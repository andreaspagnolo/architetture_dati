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60" r:id="rId3"/>
    <p:sldId id="258" r:id="rId4"/>
    <p:sldId id="265" r:id="rId5"/>
    <p:sldId id="261" r:id="rId6"/>
    <p:sldId id="262" r:id="rId7"/>
    <p:sldId id="263" r:id="rId8"/>
    <p:sldId id="264" r:id="rId9"/>
    <p:sldId id="266" r:id="rId10"/>
    <p:sldId id="27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00" r:id="rId19"/>
    <p:sldId id="275" r:id="rId20"/>
    <p:sldId id="277" r:id="rId21"/>
    <p:sldId id="278" r:id="rId22"/>
    <p:sldId id="279" r:id="rId23"/>
    <p:sldId id="283" r:id="rId24"/>
    <p:sldId id="280" r:id="rId25"/>
    <p:sldId id="281" r:id="rId26"/>
    <p:sldId id="282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830"/>
  </p:normalViewPr>
  <p:slideViewPr>
    <p:cSldViewPr snapToGrid="0">
      <p:cViewPr varScale="1">
        <p:scale>
          <a:sx n="109" d="100"/>
          <a:sy n="109" d="100"/>
        </p:scale>
        <p:origin x="216" y="4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7EE1A-E6AB-3244-BD46-C86FFC0895A0}" type="datetimeFigureOut">
              <a:rPr lang="en-IT" smtClean="0"/>
              <a:t>09/10/25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3AAA9-3AAE-6544-8564-C7265944E9E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8450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3AAA9-3AAE-6544-8564-C7265944E9ED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8794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3AAA9-3AAE-6544-8564-C7265944E9ED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55863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3AAA9-3AAE-6544-8564-C7265944E9ED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09662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3AAA9-3AAE-6544-8564-C7265944E9ED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97150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BCF8-C1E7-2A0C-A465-18D37EA66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DB922-9803-8D75-1443-574E9804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69199-498A-6A1B-AB91-41A7AA9E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299F-A64B-1449-90CC-95EFB3240C29}" type="datetime1">
              <a:rPr lang="it-IT" smtClean="0"/>
              <a:t>09/10/25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33017-97CB-00CC-A1FA-629A815B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D6DF1-9EE7-AB0D-EB5D-31124C76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17556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EF41-5F6E-3295-6C54-D42E0835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C6DBC-EBE1-186B-981A-3A5AFE8A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7BA46-3105-33C8-BB5D-006CF4DF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8386-FF4E-524F-9CE7-EE190472B54E}" type="datetime1">
              <a:rPr lang="it-IT" smtClean="0"/>
              <a:t>09/10/25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62272-67A8-4E24-F9C2-FF05969FD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CD5DF-3863-E6BD-9BF7-3FF43567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7790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54713-015F-B209-8F67-ABC52DE6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78C1E-A09E-E394-E89E-41F26226E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9E21F-5BC4-36D6-300E-A9F7ACF0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068F-9B2B-CF43-935B-EA81C21BEFF0}" type="datetime1">
              <a:rPr lang="it-IT" smtClean="0"/>
              <a:t>09/10/25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D2467-FF25-8DE8-DDDD-BDC4BF03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7CA3F-8A7D-3B77-7C7A-68170232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4544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2702-0E6F-7EBB-3380-7525F359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04E83-0A72-C138-3281-EB3102448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A931D-641F-D921-B41C-CA6A71D69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964F-83FB-8BA7-05E1-A3A54B3D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F1A2B-22A8-1946-B9B6-09652D015C83}" type="datetime1">
              <a:rPr lang="it-IT" smtClean="0"/>
              <a:t>09/10/25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4F906-E333-F82A-80A4-3211265C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F1A74-6F92-8ED2-577F-1B12D72F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751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CBAA-03D9-46E7-F270-305380550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A3783-9A14-114E-2725-D081FCF4A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576CF-7BED-972D-E6EF-29667D732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92BB1-E4BE-A535-DCF0-54A500F43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819CF-18B7-77EB-5507-041374E65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8FEEEA-6673-C6A1-5A1A-071BADDD0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89CF5-6B7C-5843-97E9-BE124EEA4C5D}" type="datetime1">
              <a:rPr lang="it-IT" smtClean="0"/>
              <a:t>09/10/25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2496E-33E4-7FB7-6C17-C87A4BB8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B8AD78-9BAF-B60C-8463-23D61762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92555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03A43-EF30-EEEE-C6BD-90AE4A6D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68CEB-4160-75DF-93E3-FB0CE309C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63A59-FE1C-3543-A610-CB25B53E8E30}" type="datetime1">
              <a:rPr lang="it-IT" smtClean="0"/>
              <a:t>09/10/25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397CB-7710-5D3D-5CB5-A25FE74F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37F9F-9709-34EE-96B1-820E23F1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01245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73A240-09A1-A2BC-006D-A7C7A578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61B4-4CA3-DB47-945F-32FE510E9E8A}" type="datetime1">
              <a:rPr lang="it-IT" smtClean="0"/>
              <a:t>09/10/25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6474A-C959-758B-E0D3-815FCFAE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C5770-5F9C-B568-6481-1AA7CBF7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8858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9025-22BE-627C-B94A-04BD0D19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26E84-CD15-613D-FD40-91CF60E03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4BEA8-78A3-D117-71CA-54A4C80B3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86F17-92C7-FE8A-3037-E49906B1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935C-C652-8F42-BD63-4106351C3C6A}" type="datetime1">
              <a:rPr lang="it-IT" smtClean="0"/>
              <a:t>09/10/25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8B048-2122-ADF2-9ACC-B2015F3E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BD3E2-4BD7-D61F-B658-DDAD39E7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2427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1025-A6DF-B3ED-CEE7-29294AEC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4592-A0AC-6E7F-41CA-A8C17D4EF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575D4-684A-62C9-9C59-FC5F13C7C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271D4-4C55-18EF-857E-5B0E1BC4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4F97-DE19-CB45-B135-F3F655585450}" type="datetime1">
              <a:rPr lang="it-IT" smtClean="0"/>
              <a:t>09/10/25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8B087-CB7C-2CE7-DB9B-2F845FE4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A7895-4E49-9D0B-BA66-8EAD3ABE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90604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4CE4-D7CF-46D9-539E-BC8176E2D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EDEE9-08AA-EA4B-492A-C23CEFF65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285BA-308B-F7FE-9B9E-99EBE7B3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6D28-49F7-4043-BADF-31D7D4324A2F}" type="datetime1">
              <a:rPr lang="it-IT" smtClean="0"/>
              <a:t>09/10/25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6D2EC-DB02-F941-1F30-795D22E4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D4B15-39A6-CA4C-EC48-06FB592E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8619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AAEF2E-6C2C-D149-6277-C10D7AEBC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B559D-FAF6-3EC0-944D-5F3448C01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8FBBA-284D-18FC-1EE9-1E7F7DA9D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A19B-9958-DD4F-ABE5-FA818A8364A1}" type="datetime1">
              <a:rPr lang="it-IT" smtClean="0"/>
              <a:t>09/10/25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0CA75-6043-91A6-1B67-53511641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A5582-890F-2778-9C5A-8C9BF130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2005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BCAB1-82F1-5DD9-49A4-EED4C463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863BA-D4DB-E69F-13AD-1074BC55D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7B5B8-F12E-EF52-D04B-9F8F69410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BFE42-5C94-7D46-A5BC-EDAA07296840}" type="datetime1">
              <a:rPr lang="it-IT" smtClean="0"/>
              <a:t>09/10/25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6521B-EB54-85D5-A357-73C3ECECB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54913-C09A-2202-F1DB-C07621FBE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CB4F0-B190-1240-B271-3FE1DCA8D8C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3190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PARTNER | Distretto Bicocca">
            <a:extLst>
              <a:ext uri="{FF2B5EF4-FFF2-40B4-BE49-F238E27FC236}">
                <a16:creationId xmlns:a16="http://schemas.microsoft.com/office/drawing/2014/main" id="{0B480026-C315-4264-543E-C72B510184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0" t="18924" r="20231" b="16914"/>
          <a:stretch>
            <a:fillRect/>
          </a:stretch>
        </p:blipFill>
        <p:spPr bwMode="auto">
          <a:xfrm>
            <a:off x="127000" y="101601"/>
            <a:ext cx="13081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67C48A-D24A-671E-B6DB-403023E11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8008"/>
            <a:ext cx="9144000" cy="334712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nalisi delle performance di 3 modelli di machine learning su un dataset progressivamente sporcato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81E8E-E7B3-5074-603E-FD9EA0AF4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60985"/>
            <a:ext cx="9144000" cy="1655762"/>
          </a:xfrm>
        </p:spPr>
        <p:txBody>
          <a:bodyPr/>
          <a:lstStyle/>
          <a:p>
            <a:r>
              <a:rPr lang="en-IT" dirty="0"/>
              <a:t>Andrea Spagnolo 879254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888639-B3FD-5FB3-D15B-7A0DA6EB584A}"/>
              </a:ext>
            </a:extLst>
          </p:cNvPr>
          <p:cNvCxnSpPr/>
          <p:nvPr/>
        </p:nvCxnSpPr>
        <p:spPr>
          <a:xfrm>
            <a:off x="4166992" y="4445239"/>
            <a:ext cx="3858016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Heart (Fornito da Getty Images)">
            <a:extLst>
              <a:ext uri="{FF2B5EF4-FFF2-40B4-BE49-F238E27FC236}">
                <a16:creationId xmlns:a16="http://schemas.microsoft.com/office/drawing/2014/main" id="{7FD04439-E4E6-82A4-0B49-5D5DCC11A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1681" y="3918633"/>
            <a:ext cx="2260319" cy="293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317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5448-7821-18A0-EF29-60990072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25412"/>
            <a:ext cx="105156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Processo di degradazione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778C84-5B53-7521-85C7-68526F4C1C66}"/>
              </a:ext>
            </a:extLst>
          </p:cNvPr>
          <p:cNvSpPr/>
          <p:nvPr/>
        </p:nvSpPr>
        <p:spPr>
          <a:xfrm>
            <a:off x="2759075" y="2143262"/>
            <a:ext cx="6673850" cy="8397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indent="-742950">
              <a:buFont typeface="Wingdings" pitchFamily="2" charset="2"/>
              <a:buChar char="Ø"/>
            </a:pPr>
            <a:r>
              <a:rPr lang="en-IT" sz="3600" dirty="0"/>
              <a:t>Valori nulli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1D0F30-E4D4-67F3-6E4B-8EF222B3E292}"/>
              </a:ext>
            </a:extLst>
          </p:cNvPr>
          <p:cNvSpPr/>
          <p:nvPr/>
        </p:nvSpPr>
        <p:spPr>
          <a:xfrm>
            <a:off x="2759075" y="3112434"/>
            <a:ext cx="6673850" cy="83978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indent="-742950">
              <a:buFont typeface="Wingdings" pitchFamily="2" charset="2"/>
              <a:buChar char="Ø"/>
            </a:pPr>
            <a:r>
              <a:rPr lang="en-IT" sz="3600" dirty="0"/>
              <a:t>Valori duplicati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DAAFFB-DFB9-445E-2B5D-418A8372FFDE}"/>
              </a:ext>
            </a:extLst>
          </p:cNvPr>
          <p:cNvSpPr/>
          <p:nvPr/>
        </p:nvSpPr>
        <p:spPr>
          <a:xfrm>
            <a:off x="2759075" y="4081606"/>
            <a:ext cx="6673850" cy="83978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indent="-742950">
              <a:buFont typeface="Wingdings" pitchFamily="2" charset="2"/>
              <a:buChar char="Ø"/>
            </a:pPr>
            <a:r>
              <a:rPr lang="en-IT" sz="3600" dirty="0"/>
              <a:t>Outliers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10C424-7B5A-0A57-A426-77E589E957D1}"/>
              </a:ext>
            </a:extLst>
          </p:cNvPr>
          <p:cNvSpPr/>
          <p:nvPr/>
        </p:nvSpPr>
        <p:spPr>
          <a:xfrm>
            <a:off x="2759075" y="5050778"/>
            <a:ext cx="6673850" cy="83978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indent="-742950">
              <a:buFont typeface="Wingdings" pitchFamily="2" charset="2"/>
              <a:buChar char="Ø"/>
            </a:pPr>
            <a:r>
              <a:rPr lang="en-IT" sz="3600" dirty="0"/>
              <a:t>Rumore sulla feature target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609AD-E0E1-A8AD-05C9-20159D9F6C6F}"/>
              </a:ext>
            </a:extLst>
          </p:cNvPr>
          <p:cNvSpPr txBox="1"/>
          <p:nvPr/>
        </p:nvSpPr>
        <p:spPr>
          <a:xfrm>
            <a:off x="4546600" y="1189365"/>
            <a:ext cx="386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800" dirty="0"/>
              <a:t>4 diversi approci:</a:t>
            </a:r>
          </a:p>
        </p:txBody>
      </p:sp>
    </p:spTree>
    <p:extLst>
      <p:ext uri="{BB962C8B-B14F-4D97-AF65-F5344CB8AC3E}">
        <p14:creationId xmlns:p14="http://schemas.microsoft.com/office/powerpoint/2010/main" val="402728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0892-2925-C9B2-9D86-350DB27B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Metodologia degradazione dataset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50BE0B-2EED-2907-F654-DF2B2E93770D}"/>
              </a:ext>
            </a:extLst>
          </p:cNvPr>
          <p:cNvSpPr/>
          <p:nvPr/>
        </p:nvSpPr>
        <p:spPr>
          <a:xfrm>
            <a:off x="838200" y="2079813"/>
            <a:ext cx="2008095" cy="14871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</a:t>
            </a:r>
            <a:r>
              <a:rPr lang="en-IT" dirty="0"/>
              <a:t>ichiamo dataset pulito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6FA5E77-8A64-DF7A-01E7-62C9A6C539F4}"/>
              </a:ext>
            </a:extLst>
          </p:cNvPr>
          <p:cNvSpPr/>
          <p:nvPr/>
        </p:nvSpPr>
        <p:spPr>
          <a:xfrm>
            <a:off x="3659843" y="2079812"/>
            <a:ext cx="2008094" cy="1487111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Divisione in feature binarie e continue</a:t>
            </a:r>
            <a:endParaRPr lang="en-IT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3AEF92A-ACF0-5792-F83D-63DEF6920B26}"/>
              </a:ext>
            </a:extLst>
          </p:cNvPr>
          <p:cNvSpPr/>
          <p:nvPr/>
        </p:nvSpPr>
        <p:spPr>
          <a:xfrm>
            <a:off x="6481486" y="2103438"/>
            <a:ext cx="2008093" cy="146348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Applicazione procedura di degradazione dataset</a:t>
            </a:r>
            <a:endParaRPr lang="en-IT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5454E7C-378D-FAD8-6432-51DA73C3E261}"/>
              </a:ext>
            </a:extLst>
          </p:cNvPr>
          <p:cNvSpPr/>
          <p:nvPr/>
        </p:nvSpPr>
        <p:spPr>
          <a:xfrm>
            <a:off x="9303129" y="2079812"/>
            <a:ext cx="2008093" cy="146348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IT" dirty="0"/>
              <a:t>alcolo mutua informazione datasets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615046-2025-E3A6-4BCC-16BFAE8F4FB3}"/>
              </a:ext>
            </a:extLst>
          </p:cNvPr>
          <p:cNvSpPr/>
          <p:nvPr/>
        </p:nvSpPr>
        <p:spPr>
          <a:xfrm>
            <a:off x="6481486" y="4012920"/>
            <a:ext cx="2008093" cy="149892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Calcolo metriche 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9AB167-FDFA-6D9F-4B41-1C5F2F2DC2EB}"/>
              </a:ext>
            </a:extLst>
          </p:cNvPr>
          <p:cNvSpPr/>
          <p:nvPr/>
        </p:nvSpPr>
        <p:spPr>
          <a:xfrm>
            <a:off x="880778" y="4012920"/>
            <a:ext cx="2008094" cy="149892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Addestramento modelli su datasets sporchi</a:t>
            </a:r>
            <a:endParaRPr lang="en-IT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0F74998-5C0A-1F0B-52EC-C44AAE6AA1B4}"/>
              </a:ext>
            </a:extLst>
          </p:cNvPr>
          <p:cNvSpPr/>
          <p:nvPr/>
        </p:nvSpPr>
        <p:spPr>
          <a:xfrm>
            <a:off x="9303128" y="4012920"/>
            <a:ext cx="2008094" cy="149892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Calcolo matrici di confusione</a:t>
            </a:r>
            <a:endParaRPr lang="en-IT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87C66C3-6EF0-62FB-252B-994F6ACF17FA}"/>
              </a:ext>
            </a:extLst>
          </p:cNvPr>
          <p:cNvSpPr/>
          <p:nvPr/>
        </p:nvSpPr>
        <p:spPr>
          <a:xfrm>
            <a:off x="3659843" y="4012919"/>
            <a:ext cx="2008094" cy="149892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Calcolo importanza feature decision tree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3821D5C-B656-90DC-E5D1-5BA2EE84FE60}"/>
              </a:ext>
            </a:extLst>
          </p:cNvPr>
          <p:cNvSpPr/>
          <p:nvPr/>
        </p:nvSpPr>
        <p:spPr>
          <a:xfrm>
            <a:off x="7277380" y="3832878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FBC8E4C-832C-7620-0C18-D6A5358F8BA8}"/>
              </a:ext>
            </a:extLst>
          </p:cNvPr>
          <p:cNvSpPr/>
          <p:nvPr/>
        </p:nvSpPr>
        <p:spPr>
          <a:xfrm>
            <a:off x="4473763" y="1899772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4D65E20-6AC6-9A46-F906-6961EF46EF6D}"/>
              </a:ext>
            </a:extLst>
          </p:cNvPr>
          <p:cNvSpPr/>
          <p:nvPr/>
        </p:nvSpPr>
        <p:spPr>
          <a:xfrm>
            <a:off x="7295405" y="1914526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7B99730-E5E2-EB8F-1AD0-DB0B5E9F3189}"/>
              </a:ext>
            </a:extLst>
          </p:cNvPr>
          <p:cNvSpPr/>
          <p:nvPr/>
        </p:nvSpPr>
        <p:spPr>
          <a:xfrm>
            <a:off x="10117048" y="1923397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5076BEC-7EB5-61A3-5597-8943AACA20D5}"/>
              </a:ext>
            </a:extLst>
          </p:cNvPr>
          <p:cNvSpPr/>
          <p:nvPr/>
        </p:nvSpPr>
        <p:spPr>
          <a:xfrm>
            <a:off x="1694698" y="3832878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293ADF3-05F2-E534-0D22-69152A944134}"/>
              </a:ext>
            </a:extLst>
          </p:cNvPr>
          <p:cNvSpPr/>
          <p:nvPr/>
        </p:nvSpPr>
        <p:spPr>
          <a:xfrm>
            <a:off x="4470586" y="3832878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E2A35DC-1A8D-BC97-B30E-955EDC422EF4}"/>
              </a:ext>
            </a:extLst>
          </p:cNvPr>
          <p:cNvSpPr/>
          <p:nvPr/>
        </p:nvSpPr>
        <p:spPr>
          <a:xfrm>
            <a:off x="1652119" y="1870730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935C44D-196A-F2F9-BBC8-38E6DD1B0A74}"/>
              </a:ext>
            </a:extLst>
          </p:cNvPr>
          <p:cNvSpPr/>
          <p:nvPr/>
        </p:nvSpPr>
        <p:spPr>
          <a:xfrm>
            <a:off x="10117048" y="3832878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4412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63E2-E4A9-1CA8-2941-F109E79A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FC1D80-E73C-F6E1-CF74-2351FBE09019}"/>
              </a:ext>
            </a:extLst>
          </p:cNvPr>
          <p:cNvSpPr/>
          <p:nvPr/>
        </p:nvSpPr>
        <p:spPr>
          <a:xfrm>
            <a:off x="2241550" y="1435100"/>
            <a:ext cx="8953500" cy="48133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276D1AA-DFC3-F167-F5E5-ADBC69C03A76}"/>
              </a:ext>
            </a:extLst>
          </p:cNvPr>
          <p:cNvSpPr/>
          <p:nvPr/>
        </p:nvSpPr>
        <p:spPr>
          <a:xfrm>
            <a:off x="1987550" y="1435100"/>
            <a:ext cx="8953500" cy="4813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53671-1E96-32CC-1208-86507CC2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109537"/>
            <a:ext cx="105156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Metodologia analisi risultati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4197AD-824D-A5BB-6D7F-E7AD33E837A4}"/>
              </a:ext>
            </a:extLst>
          </p:cNvPr>
          <p:cNvSpPr/>
          <p:nvPr/>
        </p:nvSpPr>
        <p:spPr>
          <a:xfrm>
            <a:off x="1733550" y="1435100"/>
            <a:ext cx="8953500" cy="48133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AE5EEAC-0F0F-7D4D-D5E5-C91EE7F89197}"/>
              </a:ext>
            </a:extLst>
          </p:cNvPr>
          <p:cNvSpPr/>
          <p:nvPr/>
        </p:nvSpPr>
        <p:spPr>
          <a:xfrm>
            <a:off x="1441450" y="1435100"/>
            <a:ext cx="8953500" cy="48133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T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A8CC23A-5939-A50A-4EE9-0493EDB41924}"/>
              </a:ext>
            </a:extLst>
          </p:cNvPr>
          <p:cNvSpPr/>
          <p:nvPr/>
        </p:nvSpPr>
        <p:spPr>
          <a:xfrm>
            <a:off x="1441450" y="1435100"/>
            <a:ext cx="8705850" cy="481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T" sz="3600" dirty="0"/>
              <a:t>Visualizzazione mutua informazione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30816-BA6B-C7E9-315F-6F99EC257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00" y="2532063"/>
            <a:ext cx="5207000" cy="310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5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9BACDB-60D4-9EDC-281C-5E35EEA88748}"/>
              </a:ext>
            </a:extLst>
          </p:cNvPr>
          <p:cNvSpPr/>
          <p:nvPr/>
        </p:nvSpPr>
        <p:spPr>
          <a:xfrm>
            <a:off x="2241550" y="1435100"/>
            <a:ext cx="8953500" cy="48133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47A8CC-7047-E32F-DDC0-E6839EF66DA3}"/>
              </a:ext>
            </a:extLst>
          </p:cNvPr>
          <p:cNvSpPr/>
          <p:nvPr/>
        </p:nvSpPr>
        <p:spPr>
          <a:xfrm>
            <a:off x="1987550" y="1435100"/>
            <a:ext cx="8953500" cy="4813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C0554-265B-B67C-F0DC-3707E7F9D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109537"/>
            <a:ext cx="105156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Metodologia analisi risultati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6F7112-C0F6-B5F5-D556-485D00E9DCF1}"/>
              </a:ext>
            </a:extLst>
          </p:cNvPr>
          <p:cNvSpPr/>
          <p:nvPr/>
        </p:nvSpPr>
        <p:spPr>
          <a:xfrm>
            <a:off x="1733550" y="1435100"/>
            <a:ext cx="8953500" cy="48133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7F31A5A-F847-A8A5-658E-9BE7E64EE547}"/>
              </a:ext>
            </a:extLst>
          </p:cNvPr>
          <p:cNvSpPr/>
          <p:nvPr/>
        </p:nvSpPr>
        <p:spPr>
          <a:xfrm>
            <a:off x="1441450" y="1435100"/>
            <a:ext cx="8953500" cy="48133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T" sz="3600" dirty="0"/>
              <a:t>Visualizzazione dataset degradato</a:t>
            </a:r>
          </a:p>
          <a:p>
            <a:pPr algn="ctr"/>
            <a:endParaRPr lang="en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DDCCDA-1681-000D-2E8A-F4555F893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93" y="2995083"/>
            <a:ext cx="7463213" cy="169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AFD4-8857-DBD0-D114-79FFE82C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28DD5D6-68B1-92FC-C585-0F4D1EE78A8D}"/>
              </a:ext>
            </a:extLst>
          </p:cNvPr>
          <p:cNvSpPr/>
          <p:nvPr/>
        </p:nvSpPr>
        <p:spPr>
          <a:xfrm>
            <a:off x="2241550" y="1435100"/>
            <a:ext cx="8953500" cy="48133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C6E8E8-6634-FE42-B62E-EC1413BCC6C2}"/>
              </a:ext>
            </a:extLst>
          </p:cNvPr>
          <p:cNvSpPr/>
          <p:nvPr/>
        </p:nvSpPr>
        <p:spPr>
          <a:xfrm>
            <a:off x="1987550" y="1435100"/>
            <a:ext cx="8953500" cy="4813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56A82-CA9F-24D8-C96D-2DA137A2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109537"/>
            <a:ext cx="105156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Metodologia analisi risultati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6FD748-34A6-D106-EDE8-41189D1601AF}"/>
              </a:ext>
            </a:extLst>
          </p:cNvPr>
          <p:cNvSpPr/>
          <p:nvPr/>
        </p:nvSpPr>
        <p:spPr>
          <a:xfrm>
            <a:off x="1733550" y="1435100"/>
            <a:ext cx="8953500" cy="48133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T" sz="3600" dirty="0"/>
              <a:t>Visualizzazione andamento metriche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F3BEF-AD5A-D995-A91F-6F6522F5B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050" y="2760663"/>
            <a:ext cx="7772400" cy="289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7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83D2-13F8-588A-B5CD-76AF8BB2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0EA1DF-66B9-80E1-15AE-141A1B2C0262}"/>
              </a:ext>
            </a:extLst>
          </p:cNvPr>
          <p:cNvSpPr/>
          <p:nvPr/>
        </p:nvSpPr>
        <p:spPr>
          <a:xfrm>
            <a:off x="2241550" y="1435100"/>
            <a:ext cx="8953500" cy="48133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A36E5F-C5A9-95D8-7CAE-3017B8571E01}"/>
              </a:ext>
            </a:extLst>
          </p:cNvPr>
          <p:cNvSpPr/>
          <p:nvPr/>
        </p:nvSpPr>
        <p:spPr>
          <a:xfrm>
            <a:off x="1987550" y="1435100"/>
            <a:ext cx="8953500" cy="4813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T" sz="3600" dirty="0"/>
              <a:t>Visualizzazione andamento matrici di confusione</a:t>
            </a:r>
          </a:p>
          <a:p>
            <a:pPr algn="ctr"/>
            <a:endParaRPr lang="en-IT" dirty="0"/>
          </a:p>
          <a:p>
            <a:pPr algn="ctr"/>
            <a:endParaRPr lang="en-IT" dirty="0"/>
          </a:p>
          <a:p>
            <a:pPr algn="ctr"/>
            <a:endParaRPr lang="en-IT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C8285-3D31-39D4-6093-229ED227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109537"/>
            <a:ext cx="105156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Metodologia analisi risultati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0B759-1B29-5F26-5DF4-DDB70311B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100" y="3060700"/>
            <a:ext cx="7772400" cy="268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19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F88EA-CFA9-771C-D690-71E86D74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FA39CCC-952F-8171-364A-6373C9046BA2}"/>
              </a:ext>
            </a:extLst>
          </p:cNvPr>
          <p:cNvSpPr/>
          <p:nvPr/>
        </p:nvSpPr>
        <p:spPr>
          <a:xfrm>
            <a:off x="2241550" y="1435100"/>
            <a:ext cx="8953500" cy="48133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T" sz="3600" dirty="0"/>
              <a:t>Visualizzazione evoluzione importanza delle feature negli alberi di decisione</a:t>
            </a:r>
          </a:p>
          <a:p>
            <a:pPr algn="ctr"/>
            <a:endParaRPr lang="en-IT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BE3C1-5359-D816-88AB-3FABCAFB9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109537"/>
            <a:ext cx="105156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Metodologia analisi risultati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F9F99-01EB-725B-22C1-0FF768C93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705" y="3175000"/>
            <a:ext cx="3625850" cy="25165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6EF117-A381-425B-E55C-A1EC748D2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810" y="3175000"/>
            <a:ext cx="3593540" cy="251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5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7953-4253-2795-066F-96913AAA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Valori nulli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D7BB0-AF47-6F8E-EDF5-E571A5DD4E67}"/>
              </a:ext>
            </a:extLst>
          </p:cNvPr>
          <p:cNvSpPr txBox="1"/>
          <p:nvPr/>
        </p:nvSpPr>
        <p:spPr>
          <a:xfrm>
            <a:off x="939800" y="1662492"/>
            <a:ext cx="1031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noProof="0" dirty="0"/>
              <a:t>I valori nulli sono una problematica molto diffusa nei dataset e possono avere cause diverse come guasti ai sensori, errori di inserimento, risposte mancanti …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7339FA-AA64-B128-39DB-FF7434C30ED6}"/>
              </a:ext>
            </a:extLst>
          </p:cNvPr>
          <p:cNvSpPr/>
          <p:nvPr/>
        </p:nvSpPr>
        <p:spPr>
          <a:xfrm>
            <a:off x="880778" y="3149601"/>
            <a:ext cx="2008095" cy="14871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Aggiuntiva progressiva di valori nulli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5A05F9-C0C1-157D-6D38-CD55EACD77A4}"/>
              </a:ext>
            </a:extLst>
          </p:cNvPr>
          <p:cNvSpPr/>
          <p:nvPr/>
        </p:nvSpPr>
        <p:spPr>
          <a:xfrm>
            <a:off x="3702421" y="3149600"/>
            <a:ext cx="2008094" cy="1487111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Sostituzione valori nulli con diverse metodi di imputazione</a:t>
            </a:r>
            <a:endParaRPr lang="en-IT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19DABB-9DFA-39DB-A8B5-C054A21717F0}"/>
              </a:ext>
            </a:extLst>
          </p:cNvPr>
          <p:cNvSpPr/>
          <p:nvPr/>
        </p:nvSpPr>
        <p:spPr>
          <a:xfrm>
            <a:off x="6524064" y="3173226"/>
            <a:ext cx="2008093" cy="146348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IT" dirty="0"/>
              <a:t>orrezione valori non binari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5C06EE-D0CA-6B69-33FB-F4A1353499A1}"/>
              </a:ext>
            </a:extLst>
          </p:cNvPr>
          <p:cNvSpPr/>
          <p:nvPr/>
        </p:nvSpPr>
        <p:spPr>
          <a:xfrm>
            <a:off x="9345707" y="3149600"/>
            <a:ext cx="2008093" cy="146348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Addestramento modelli sui datasets sporchi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ADBCCF-11FD-7F80-354C-F0AE82F90DE9}"/>
              </a:ext>
            </a:extLst>
          </p:cNvPr>
          <p:cNvSpPr/>
          <p:nvPr/>
        </p:nvSpPr>
        <p:spPr>
          <a:xfrm>
            <a:off x="4516341" y="2969560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8D8B98-26A3-157E-46D9-08E050FB5561}"/>
              </a:ext>
            </a:extLst>
          </p:cNvPr>
          <p:cNvSpPr/>
          <p:nvPr/>
        </p:nvSpPr>
        <p:spPr>
          <a:xfrm>
            <a:off x="7337983" y="2984314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959A9A-EC88-7B4E-6706-34199E6389AD}"/>
              </a:ext>
            </a:extLst>
          </p:cNvPr>
          <p:cNvSpPr/>
          <p:nvPr/>
        </p:nvSpPr>
        <p:spPr>
          <a:xfrm>
            <a:off x="10159626" y="2993185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4FB727B-9BC0-99C1-E6C1-DA50BB6F615D}"/>
              </a:ext>
            </a:extLst>
          </p:cNvPr>
          <p:cNvSpPr/>
          <p:nvPr/>
        </p:nvSpPr>
        <p:spPr>
          <a:xfrm>
            <a:off x="1694697" y="2940518"/>
            <a:ext cx="380253" cy="3600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6C558C4-D9DE-EC7C-B778-0D5B61544E16}"/>
              </a:ext>
            </a:extLst>
          </p:cNvPr>
          <p:cNvSpPr/>
          <p:nvPr/>
        </p:nvSpPr>
        <p:spPr>
          <a:xfrm>
            <a:off x="2508246" y="5541286"/>
            <a:ext cx="2008095" cy="646331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</a:t>
            </a:r>
            <a:r>
              <a:rPr lang="en-IT" dirty="0"/>
              <a:t>edia, mediana e moda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6A2C6DE-5457-AAE7-11D7-3609C69C7F8F}"/>
              </a:ext>
            </a:extLst>
          </p:cNvPr>
          <p:cNvSpPr/>
          <p:nvPr/>
        </p:nvSpPr>
        <p:spPr>
          <a:xfrm>
            <a:off x="4896594" y="5541286"/>
            <a:ext cx="2008093" cy="64633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Knn</a:t>
            </a:r>
            <a:r>
              <a:rPr lang="it-IT" dirty="0"/>
              <a:t> e iterativo</a:t>
            </a:r>
            <a:endParaRPr lang="en-IT" dirty="0"/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2C7F0DDA-58E4-8E6E-3112-D5084D56BF5F}"/>
              </a:ext>
            </a:extLst>
          </p:cNvPr>
          <p:cNvCxnSpPr>
            <a:stCxn id="9" idx="2"/>
            <a:endCxn id="18" idx="0"/>
          </p:cNvCxnSpPr>
          <p:nvPr/>
        </p:nvCxnSpPr>
        <p:spPr>
          <a:xfrm rot="5400000">
            <a:off x="3657094" y="4491911"/>
            <a:ext cx="904575" cy="119417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E332A4A0-19EB-A347-7519-D36AB060082C}"/>
              </a:ext>
            </a:extLst>
          </p:cNvPr>
          <p:cNvCxnSpPr>
            <a:stCxn id="9" idx="2"/>
            <a:endCxn id="19" idx="0"/>
          </p:cNvCxnSpPr>
          <p:nvPr/>
        </p:nvCxnSpPr>
        <p:spPr>
          <a:xfrm rot="16200000" flipH="1">
            <a:off x="4851267" y="4491911"/>
            <a:ext cx="904575" cy="119417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190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7B38-FDE8-FADA-E660-E3B178E32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608" y="202764"/>
            <a:ext cx="105156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Distribuzione dataset sporcato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19A49-72AD-3312-FD07-53D62618B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10" y="1358994"/>
            <a:ext cx="10299698" cy="1707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3CD8AB-6C7D-53F4-C71F-BC2F1514D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10" y="3066269"/>
            <a:ext cx="10299697" cy="1706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615CA0-5A40-2254-A9EB-66B2779CA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10" y="4772829"/>
            <a:ext cx="10299696" cy="170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17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4C6D-982A-1991-4989-D7605B365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valori nulli – andamento metriche dt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E7282-87FB-5654-19B4-4C63804CE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55" y="1884603"/>
            <a:ext cx="10257490" cy="382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41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BC546-2487-2706-AD62-0E62B74D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9A3D-7B2F-F42E-FA45-6A395853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65125"/>
            <a:ext cx="107442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valori nulli – andamento metriche svm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BBD08-6AFD-EF66-AB74-6B4493CBC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05" y="1896485"/>
            <a:ext cx="10362989" cy="386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229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605A-1818-8318-2FE6-DCF8288A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022D-4DD9-60C3-CF58-5B141542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65125"/>
            <a:ext cx="107442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valori nulli – andamento metriche nn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193F2-1DA7-4BB7-D3FF-8330C17C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29" y="1947285"/>
            <a:ext cx="10499342" cy="391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7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F05C50-BCC0-3D13-50C2-870C552A0A75}"/>
              </a:ext>
            </a:extLst>
          </p:cNvPr>
          <p:cNvSpPr/>
          <p:nvPr/>
        </p:nvSpPr>
        <p:spPr>
          <a:xfrm>
            <a:off x="0" y="-8794"/>
            <a:ext cx="5727700" cy="68843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A5D05-541C-893F-E2C6-D155FEB9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2469450"/>
            <a:ext cx="5251450" cy="1936688"/>
          </a:xfrm>
        </p:spPr>
        <p:txBody>
          <a:bodyPr>
            <a:normAutofit/>
          </a:bodyPr>
          <a:lstStyle/>
          <a:p>
            <a:pPr algn="ctr"/>
            <a:r>
              <a:rPr lang="en-IT" dirty="0">
                <a:solidFill>
                  <a:schemeClr val="bg1"/>
                </a:solidFill>
              </a:rPr>
              <a:t>Risultati valori nulli  andamento matrici di confusione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BFAB67-36E8-2FC7-57F2-D85992C1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700" y="-8794"/>
            <a:ext cx="6399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13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A6DC-3329-B577-BA79-8532B27E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Risultati valori nulli – mutua informazione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23FEF8-FBEA-F042-E0B7-C9D1D19E1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557" y="1444627"/>
            <a:ext cx="4092742" cy="2441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7BA770-2A2A-B57D-E6B7-6B5ECED4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0" y="1444627"/>
            <a:ext cx="4092743" cy="2441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4A1242-219A-A8A1-2CBB-12C7AFD67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628" y="4051300"/>
            <a:ext cx="4092743" cy="24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67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E423-8DFC-5E8A-6BF2-77C89DA7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Risultati valori nulli – mutua informazione</a:t>
            </a:r>
            <a:endParaRPr lang="en-IT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8884E2-69EE-6CDD-F4EB-AC6515A8D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891001"/>
            <a:ext cx="6106589" cy="3642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0566DB-5B85-AA97-899B-2DBF976D7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1001"/>
            <a:ext cx="6106589" cy="364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85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FC42-D776-F06A-F6FC-0A673E0E0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Risultati valori nulli – importanza feature dt</a:t>
            </a:r>
            <a:endParaRPr lang="en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4E734-539D-40A1-E001-067BB90BA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0" y="2098124"/>
            <a:ext cx="3835047" cy="2661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73A58-CB2D-CB26-E269-3E5669372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853" y="2098123"/>
            <a:ext cx="3835047" cy="2661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145F5F-29A4-CCCD-35F1-6585AA1AD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476" y="2098122"/>
            <a:ext cx="3835047" cy="266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33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5E5D-88AA-9A30-CDD9-90A862D7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78AB-4B59-4829-F8F7-1846FA97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Risultati valori nulli – importanza feature dt</a:t>
            </a:r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F6C512-F2AA-33D7-10A2-2EED98810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12" y="1731831"/>
            <a:ext cx="5655366" cy="3960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A2DEE4-BAD0-94FC-2441-C2CA07D49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22" y="1731830"/>
            <a:ext cx="5655366" cy="396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48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0E02C-0470-A8B0-955F-9DDE5F53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AD2B-1873-AC7E-079D-25E13105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Valori duplicati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71FB13-0BBB-1779-80AE-A35520563165}"/>
              </a:ext>
            </a:extLst>
          </p:cNvPr>
          <p:cNvSpPr/>
          <p:nvPr/>
        </p:nvSpPr>
        <p:spPr>
          <a:xfrm>
            <a:off x="838200" y="2181362"/>
            <a:ext cx="10515600" cy="11968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it-IT" noProof="0" dirty="0"/>
              <a:t>I valori duplicati sono una problematica molto diffusa nei dataset e possono avere cause diverse come </a:t>
            </a:r>
            <a:r>
              <a:rPr lang="it-IT" dirty="0"/>
              <a:t>di dati provenienti da fonti diverse che non riconoscono le informazioni già presenti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6B29A9-4C4A-17F5-3C84-52BC77595DD4}"/>
              </a:ext>
            </a:extLst>
          </p:cNvPr>
          <p:cNvSpPr/>
          <p:nvPr/>
        </p:nvSpPr>
        <p:spPr>
          <a:xfrm>
            <a:off x="838200" y="3556001"/>
            <a:ext cx="10515600" cy="119683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it-IT" noProof="0" dirty="0"/>
              <a:t>I duplicati sono stati generati senza sovrascrivere i dati già presenti ma creandone di nuovi. In questo modo al termine del processo di degradazione otteniamo un dataset di dimensione doppia rispetto all’originale. </a:t>
            </a:r>
          </a:p>
        </p:txBody>
      </p:sp>
    </p:spTree>
    <p:extLst>
      <p:ext uri="{BB962C8B-B14F-4D97-AF65-F5344CB8AC3E}">
        <p14:creationId xmlns:p14="http://schemas.microsoft.com/office/powerpoint/2010/main" val="609021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FE3C-FD6F-2FB2-39FB-C0092BD6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Valori duplicati – andamento metriche dt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5EB7D-D630-7F42-2CC7-5DA7FB380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37" y="1960802"/>
            <a:ext cx="10321663" cy="384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38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4065-2770-60EC-9496-5744CEE5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6D6E-0890-6F2C-7A47-EB267038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Valori duplicati – andamento metriche svm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24BD7-884B-CF94-CE51-1962ECEDD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964218"/>
            <a:ext cx="10515599" cy="391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40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3B6-6925-3AAA-6DD3-4A304222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Valori duplicati – andamento metriche nn</a:t>
            </a:r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28A2E3-CF25-9CFF-B364-AEE1CB344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930352"/>
            <a:ext cx="10236200" cy="381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32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C2A5-AFC6-34C1-DDC4-5A2726E9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Valori duplicati – analisi overfitting nei dt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32D22-43CD-E6AD-48BF-476B2AC22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867" y="2438271"/>
            <a:ext cx="5604775" cy="27883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C48F60-4FCF-60BE-560F-115F2D85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90" y="2438271"/>
            <a:ext cx="5604777" cy="278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50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08D13-DACF-2A97-0D6D-1B79C296CE45}"/>
              </a:ext>
            </a:extLst>
          </p:cNvPr>
          <p:cNvSpPr/>
          <p:nvPr/>
        </p:nvSpPr>
        <p:spPr>
          <a:xfrm>
            <a:off x="-1" y="0"/>
            <a:ext cx="5740039" cy="68843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A0E48-5CD3-DD2D-296C-A0EC2945D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2424509"/>
            <a:ext cx="4546600" cy="2008982"/>
          </a:xfrm>
        </p:spPr>
        <p:txBody>
          <a:bodyPr>
            <a:noAutofit/>
          </a:bodyPr>
          <a:lstStyle/>
          <a:p>
            <a:pPr algn="ctr"/>
            <a:r>
              <a:rPr lang="en-IT" dirty="0">
                <a:solidFill>
                  <a:schemeClr val="bg1"/>
                </a:solidFill>
              </a:rPr>
              <a:t>Valori duplicati andamento matrici di confusione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13B02-E909-F53F-6C32-E58D7E105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039" y="0"/>
            <a:ext cx="6451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92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CC6F-0B59-0584-677A-B2C39CA0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Risultati valori duplicati – mutua informazione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CADBFC-8D20-2199-8C63-8A27F23F6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8350" y="1523820"/>
            <a:ext cx="8115300" cy="484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81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B2091-F7B6-C757-3867-AF3EA683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65125"/>
            <a:ext cx="11677582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Risultati valori duplicati – importanza feature nei dt</a:t>
            </a:r>
            <a:endParaRPr lang="en-IT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DC2E06-5834-C910-C881-B505A2604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583981"/>
            <a:ext cx="6038783" cy="42289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CCA0C-09DD-AB36-E1C8-187F46006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7" y="1602823"/>
            <a:ext cx="6038783" cy="419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59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D019-86BC-BEF2-1BA1-51CEEBC7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noProof="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Outliers</a:t>
            </a:r>
            <a:endParaRPr lang="it-IT" noProof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1BA7A-2EC9-55BE-DE14-EB64415B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6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noProof="0" dirty="0"/>
              <a:t>Gli </a:t>
            </a:r>
            <a:r>
              <a:rPr lang="it-IT" sz="1800" noProof="0" dirty="0" err="1"/>
              <a:t>outlier</a:t>
            </a:r>
            <a:r>
              <a:rPr lang="it-IT" sz="1800" noProof="0" dirty="0"/>
              <a:t> sono valori che si discostano notevolmente dagli altri dati, e la loro presenza può influenzare negativamente l'analisi e la modellazione. Le ragioni della loro comparsa possono essere errori di misurazione, ma anche variazione naturali ma rare.</a:t>
            </a:r>
            <a:br>
              <a:rPr lang="it-IT" sz="1800" noProof="0" dirty="0"/>
            </a:br>
            <a:r>
              <a:rPr lang="it-IT" sz="1800" noProof="0" dirty="0"/>
              <a:t>Ho creato progressivamente 3 diversi tipi di </a:t>
            </a:r>
            <a:r>
              <a:rPr lang="it-IT" sz="1800" noProof="0" dirty="0" err="1"/>
              <a:t>outliers</a:t>
            </a:r>
            <a:r>
              <a:rPr lang="it-IT" sz="1800" dirty="0"/>
              <a:t> sulle feature continue</a:t>
            </a:r>
            <a:r>
              <a:rPr lang="it-IT" sz="1800" noProof="0" dirty="0"/>
              <a:t>:</a:t>
            </a:r>
          </a:p>
          <a:p>
            <a:pPr marL="0" indent="0">
              <a:buNone/>
            </a:pPr>
            <a:endParaRPr lang="it-IT" sz="1800" noProof="0" dirty="0"/>
          </a:p>
          <a:p>
            <a:pPr marL="0" indent="0">
              <a:buNone/>
            </a:pPr>
            <a:endParaRPr lang="it-IT" sz="1800" noProof="0" dirty="0"/>
          </a:p>
          <a:p>
            <a:pPr marL="0" indent="0">
              <a:buNone/>
            </a:pPr>
            <a:endParaRPr lang="it-IT" sz="1800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C2929F-2D62-C8B9-ECB5-D975613F3594}"/>
              </a:ext>
            </a:extLst>
          </p:cNvPr>
          <p:cNvSpPr/>
          <p:nvPr/>
        </p:nvSpPr>
        <p:spPr>
          <a:xfrm>
            <a:off x="838200" y="3056006"/>
            <a:ext cx="10515598" cy="8397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it-IT" noProof="0" dirty="0"/>
              <a:t>Extreme: valori estremi che si discostano di molto dalla distribuzione iniziale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7671A8-0221-D897-3127-5573A779D32A}"/>
              </a:ext>
            </a:extLst>
          </p:cNvPr>
          <p:cNvSpPr/>
          <p:nvPr/>
        </p:nvSpPr>
        <p:spPr>
          <a:xfrm>
            <a:off x="838200" y="4030729"/>
            <a:ext cx="10515599" cy="83978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it-IT" noProof="0" dirty="0"/>
              <a:t>Shift: </a:t>
            </a:r>
            <a:r>
              <a:rPr lang="en-GB" noProof="0" dirty="0"/>
              <a:t>v</a:t>
            </a:r>
            <a:r>
              <a:rPr lang="en-GB" dirty="0" err="1"/>
              <a:t>alori</a:t>
            </a:r>
            <a:r>
              <a:rPr lang="en-GB" dirty="0"/>
              <a:t> </a:t>
            </a:r>
            <a:r>
              <a:rPr lang="en-GB" dirty="0" err="1"/>
              <a:t>ottenuti</a:t>
            </a:r>
            <a:r>
              <a:rPr lang="en-GB" dirty="0"/>
              <a:t> </a:t>
            </a:r>
            <a:r>
              <a:rPr lang="en-GB" dirty="0" err="1"/>
              <a:t>spostando</a:t>
            </a:r>
            <a:r>
              <a:rPr lang="en-GB" dirty="0"/>
              <a:t> </a:t>
            </a:r>
            <a:r>
              <a:rPr lang="en-GB" dirty="0" err="1"/>
              <a:t>sistematicamente</a:t>
            </a:r>
            <a:r>
              <a:rPr lang="en-GB" dirty="0"/>
              <a:t> il </a:t>
            </a:r>
            <a:r>
              <a:rPr lang="en-GB" dirty="0" err="1"/>
              <a:t>valore</a:t>
            </a:r>
            <a:r>
              <a:rPr lang="en-GB" dirty="0"/>
              <a:t> </a:t>
            </a:r>
            <a:r>
              <a:rPr lang="en-GB" dirty="0" err="1"/>
              <a:t>originale</a:t>
            </a:r>
            <a:r>
              <a:rPr lang="en-GB" dirty="0"/>
              <a:t> di un </a:t>
            </a:r>
            <a:r>
              <a:rPr lang="en-GB" dirty="0" err="1"/>
              <a:t>multiplo</a:t>
            </a:r>
            <a:r>
              <a:rPr lang="en-GB" dirty="0"/>
              <a:t> </a:t>
            </a:r>
            <a:r>
              <a:rPr lang="en-GB" dirty="0" err="1"/>
              <a:t>della</a:t>
            </a:r>
            <a:r>
              <a:rPr lang="en-GB" dirty="0"/>
              <a:t> </a:t>
            </a:r>
            <a:r>
              <a:rPr lang="en-GB" dirty="0" err="1"/>
              <a:t>deviazione</a:t>
            </a:r>
            <a:r>
              <a:rPr lang="en-GB" dirty="0"/>
              <a:t>      standard</a:t>
            </a:r>
            <a:endParaRPr lang="it-IT" noProof="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09C554-A68D-2DAB-9D7C-8FAB57C476B5}"/>
              </a:ext>
            </a:extLst>
          </p:cNvPr>
          <p:cNvSpPr/>
          <p:nvPr/>
        </p:nvSpPr>
        <p:spPr>
          <a:xfrm>
            <a:off x="838200" y="5005452"/>
            <a:ext cx="10515598" cy="83978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Ø"/>
            </a:pPr>
            <a:r>
              <a:rPr lang="it-IT" noProof="0" dirty="0" err="1"/>
              <a:t>Noise</a:t>
            </a:r>
            <a:r>
              <a:rPr lang="it-IT" noProof="0" dirty="0"/>
              <a:t>: valori sporcati aggiungendo rumore casuale di ampiezza significativa al valore originale. </a:t>
            </a:r>
          </a:p>
        </p:txBody>
      </p:sp>
    </p:spTree>
    <p:extLst>
      <p:ext uri="{BB962C8B-B14F-4D97-AF65-F5344CB8AC3E}">
        <p14:creationId xmlns:p14="http://schemas.microsoft.com/office/powerpoint/2010/main" val="4168198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09ED-F625-8F19-7B95-BA5DE85C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78214"/>
            <a:ext cx="10515600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Distribuzione dataset sporcato</a:t>
            </a:r>
            <a:endParaRPr lang="en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987F7-6ECD-3EB6-D648-FB4B5B91C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743" y="1147349"/>
            <a:ext cx="8978513" cy="532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97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D731-1B23-BD1B-34D6-CAACBEE7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outliers – andamento metriche dt </a:t>
            </a:r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D424C-A915-9DEF-7182-AB0BEA8E8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082752"/>
            <a:ext cx="10236200" cy="381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656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0EEF-5697-6DD4-38F8-0B372979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5CA9-29DD-7F54-24E9-41936813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outliers – andamento metriche svm </a:t>
            </a:r>
            <a:endParaRPr lang="en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7A7263-DA63-1E75-B484-6CE536AB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30" y="2015018"/>
            <a:ext cx="10317539" cy="384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48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B690-97EB-7A77-F41F-A6DC0A5E9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2FBE-944F-7947-81FE-E99E0652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outliers – andamento metriche nn </a:t>
            </a:r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3D3860-1586-0C4D-A3F0-E6AF53B5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43" y="1947285"/>
            <a:ext cx="10189313" cy="379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69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BA2216-D4C1-93C0-F95D-5B38CF9C2B1A}"/>
              </a:ext>
            </a:extLst>
          </p:cNvPr>
          <p:cNvSpPr/>
          <p:nvPr/>
        </p:nvSpPr>
        <p:spPr>
          <a:xfrm>
            <a:off x="0" y="0"/>
            <a:ext cx="5727700" cy="68843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6DC59-0D06-5132-D052-FB030B4E2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889" y="2909543"/>
            <a:ext cx="447592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it-IT" noProof="0" dirty="0" err="1">
                <a:solidFill>
                  <a:schemeClr val="bg1"/>
                </a:solidFill>
              </a:rPr>
              <a:t>Outliers</a:t>
            </a:r>
            <a:r>
              <a:rPr lang="it-IT" noProof="0" dirty="0">
                <a:solidFill>
                  <a:schemeClr val="bg1"/>
                </a:solidFill>
              </a:rPr>
              <a:t>  -andamento matrici di confusione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1692DB-04E8-BD57-8D8E-90C0305B8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700" y="0"/>
            <a:ext cx="6451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7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D8E81-C6C6-3AD5-B3B9-EA958FA5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Outliers – importanza feature dt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C2A601-01D4-3C54-094B-E5C98B5F5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6437" y="2038098"/>
            <a:ext cx="5606732" cy="39263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372B0-C5D6-81D0-4C8E-BE6897EF8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1" y="2038099"/>
            <a:ext cx="5657141" cy="392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03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F6C2-1C06-FC74-53C4-AD07FA57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Outliers – andamento mutua informazione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56EE11-86C1-7ECE-2001-01D4F2D19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129" y="1690688"/>
            <a:ext cx="8099741" cy="48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40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FB895B-679E-60B8-1690-A1008216E8B2}"/>
              </a:ext>
            </a:extLst>
          </p:cNvPr>
          <p:cNvSpPr/>
          <p:nvPr/>
        </p:nvSpPr>
        <p:spPr>
          <a:xfrm>
            <a:off x="0" y="-25713"/>
            <a:ext cx="5150915" cy="6909426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C3DE1-B6C9-D8CB-F929-EDB03824B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64" y="488575"/>
            <a:ext cx="4422913" cy="1325563"/>
          </a:xfrm>
        </p:spPr>
        <p:txBody>
          <a:bodyPr/>
          <a:lstStyle/>
          <a:p>
            <a:pPr algn="ctr"/>
            <a:r>
              <a:rPr lang="en-IT" dirty="0">
                <a:solidFill>
                  <a:schemeClr val="bg1"/>
                </a:solidFill>
              </a:rPr>
              <a:t>Rumore sulla feature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07EB2-0904-9A14-E182-36FF92ACA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94" y="2406933"/>
            <a:ext cx="3853070" cy="3490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noProof="0" dirty="0">
                <a:solidFill>
                  <a:schemeClr val="bg1"/>
                </a:solidFill>
              </a:rPr>
              <a:t>Il rumore sulla feature target è un problema comune e può essere causato da  diverse tipologie di errori: </a:t>
            </a:r>
          </a:p>
          <a:p>
            <a:pPr>
              <a:buFont typeface="Wingdings" pitchFamily="2" charset="2"/>
              <a:buChar char="Ø"/>
            </a:pPr>
            <a:r>
              <a:rPr lang="it-IT" sz="1800" noProof="0" dirty="0">
                <a:solidFill>
                  <a:schemeClr val="bg1"/>
                </a:solidFill>
              </a:rPr>
              <a:t>Errori umani nel data entry</a:t>
            </a:r>
          </a:p>
          <a:p>
            <a:pPr>
              <a:buFont typeface="Wingdings" pitchFamily="2" charset="2"/>
              <a:buChar char="Ø"/>
            </a:pPr>
            <a:r>
              <a:rPr lang="it-IT" sz="1800" dirty="0">
                <a:solidFill>
                  <a:schemeClr val="bg1"/>
                </a:solidFill>
              </a:rPr>
              <a:t>D</a:t>
            </a:r>
            <a:r>
              <a:rPr lang="it-IT" sz="1800" noProof="0" dirty="0" err="1">
                <a:solidFill>
                  <a:schemeClr val="bg1"/>
                </a:solidFill>
              </a:rPr>
              <a:t>iagnosi</a:t>
            </a:r>
            <a:r>
              <a:rPr lang="it-IT" sz="1800" noProof="0" dirty="0">
                <a:solidFill>
                  <a:schemeClr val="bg1"/>
                </a:solidFill>
              </a:rPr>
              <a:t> mediche sbagliate</a:t>
            </a:r>
          </a:p>
          <a:p>
            <a:pPr>
              <a:buFont typeface="Wingdings" pitchFamily="2" charset="2"/>
              <a:buChar char="Ø"/>
            </a:pPr>
            <a:r>
              <a:rPr lang="it-IT" sz="1800" dirty="0">
                <a:solidFill>
                  <a:schemeClr val="bg1"/>
                </a:solidFill>
              </a:rPr>
              <a:t>E</a:t>
            </a:r>
            <a:r>
              <a:rPr lang="it-IT" sz="1800" noProof="0" dirty="0" err="1">
                <a:solidFill>
                  <a:schemeClr val="bg1"/>
                </a:solidFill>
              </a:rPr>
              <a:t>tichettature</a:t>
            </a:r>
            <a:r>
              <a:rPr lang="it-IT" sz="1800" noProof="0" dirty="0">
                <a:solidFill>
                  <a:schemeClr val="bg1"/>
                </a:solidFill>
              </a:rPr>
              <a:t> imprecise da parte di sistemi automatici</a:t>
            </a:r>
          </a:p>
          <a:p>
            <a:pPr>
              <a:buFont typeface="Wingdings" pitchFamily="2" charset="2"/>
              <a:buChar char="Ø"/>
            </a:pPr>
            <a:endParaRPr lang="it-IT" sz="1800" dirty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Ø"/>
            </a:pPr>
            <a:endParaRPr lang="it-IT" sz="1800" noProof="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6C7BE-5475-7EE2-68BF-9F193020D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008" y="1151357"/>
            <a:ext cx="6925992" cy="458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22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4FD0-9B39-D313-8B04-EEEA8A83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label noisy – andamento metriche dt </a:t>
            </a:r>
            <a:endParaRPr lang="en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527EA3-C1AF-1A81-0015-2F35CF43E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015019"/>
            <a:ext cx="9982200" cy="371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06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EB2AC-9D7D-3896-2D07-6588EF271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013" y="378377"/>
            <a:ext cx="10889974" cy="1325563"/>
          </a:xfrm>
        </p:spPr>
        <p:txBody>
          <a:bodyPr/>
          <a:lstStyle/>
          <a:p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label noisy – andamento metriche svm </a:t>
            </a:r>
            <a:endParaRPr lang="en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C0A2F-514A-7377-D7AC-D8C28B14B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80" y="1930352"/>
            <a:ext cx="10408439" cy="387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37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B4D8-D23B-B106-C03B-C82BDED8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>
                <a:solidFill>
                  <a:schemeClr val="accent1">
                    <a:lumMod val="75000"/>
                  </a:schemeClr>
                </a:solidFill>
              </a:rPr>
              <a:t>Risultati label noisy – andamento metriche nn </a:t>
            </a:r>
            <a:endParaRPr lang="en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E29BD-CDCF-3D3D-E198-D1DE9ACC8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134" y="1964219"/>
            <a:ext cx="10135732" cy="377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75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3B96C1-0020-C60D-A806-C42A482507B9}"/>
              </a:ext>
            </a:extLst>
          </p:cNvPr>
          <p:cNvSpPr/>
          <p:nvPr/>
        </p:nvSpPr>
        <p:spPr>
          <a:xfrm>
            <a:off x="0" y="0"/>
            <a:ext cx="5727700" cy="68843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2D834-97C0-833B-C0E1-80429C855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02" y="1910253"/>
            <a:ext cx="4926496" cy="3063875"/>
          </a:xfrm>
        </p:spPr>
        <p:txBody>
          <a:bodyPr>
            <a:normAutofit/>
          </a:bodyPr>
          <a:lstStyle/>
          <a:p>
            <a:pPr algn="ctr"/>
            <a:r>
              <a:rPr lang="en-IT" dirty="0">
                <a:solidFill>
                  <a:schemeClr val="bg1"/>
                </a:solidFill>
              </a:rPr>
              <a:t>Risultati label noisy – andamento matrici di confusione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BC24D-84CA-FF1C-A904-C6C4431A3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039" y="0"/>
            <a:ext cx="6451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2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181F-7A88-7B08-1C92-A46D73BE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Label noisy – importanza feature dt</a:t>
            </a:r>
            <a:endParaRPr lang="en-IT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3B3DB7-BC03-0E3D-EDF4-7DDABAEF5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032" y="1825623"/>
            <a:ext cx="5643759" cy="3952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9D32CD-C67D-854C-7D75-C7DD169EF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209" y="1825624"/>
            <a:ext cx="5643759" cy="395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85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B9AA-3123-12C2-15D1-A1978ADC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>
                <a:solidFill>
                  <a:schemeClr val="tx2">
                    <a:lumMod val="90000"/>
                    <a:lumOff val="10000"/>
                  </a:schemeClr>
                </a:solidFill>
              </a:rPr>
              <a:t>Label noisy – andamento mutua informazione</a:t>
            </a:r>
            <a:endParaRPr lang="en-IT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3C463A-23F4-C3D9-4D36-497815D65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4212" y="1690688"/>
            <a:ext cx="7823576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46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FE93-41CA-B857-1D8A-A518FD4D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30CB619-7234-7A2C-488E-687AD59E08F5}"/>
              </a:ext>
            </a:extLst>
          </p:cNvPr>
          <p:cNvSpPr/>
          <p:nvPr/>
        </p:nvSpPr>
        <p:spPr>
          <a:xfrm>
            <a:off x="838200" y="2143262"/>
            <a:ext cx="10515600" cy="8397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noProof="0" dirty="0"/>
              <a:t>Tra i tre modelli esaminati la </a:t>
            </a:r>
            <a:r>
              <a:rPr lang="it-IT" b="1" noProof="0" dirty="0"/>
              <a:t>rete neurale </a:t>
            </a:r>
            <a:r>
              <a:rPr lang="it-IT" noProof="0" dirty="0"/>
              <a:t>si è dimostrata complessivamente la più solida.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D22911-940C-842F-DD7A-68032128F48A}"/>
              </a:ext>
            </a:extLst>
          </p:cNvPr>
          <p:cNvSpPr/>
          <p:nvPr/>
        </p:nvSpPr>
        <p:spPr>
          <a:xfrm>
            <a:off x="838200" y="3112434"/>
            <a:ext cx="10515599" cy="83978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Gli </a:t>
            </a:r>
            <a:r>
              <a:rPr lang="en-IT" b="1" dirty="0"/>
              <a:t>svantaggi delle reti neurali </a:t>
            </a:r>
            <a:r>
              <a:rPr lang="en-IT" dirty="0"/>
              <a:t>sono gli elevati tempi di esecuzione e la sua natura “black-box”.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E0CB4C-628B-A3B6-179F-46AA19D11153}"/>
              </a:ext>
            </a:extLst>
          </p:cNvPr>
          <p:cNvSpPr/>
          <p:nvPr/>
        </p:nvSpPr>
        <p:spPr>
          <a:xfrm>
            <a:off x="838200" y="4081606"/>
            <a:ext cx="10515599" cy="83978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noProof="0" dirty="0"/>
              <a:t>Tutti i </a:t>
            </a:r>
            <a:r>
              <a:rPr lang="it-IT" b="1" noProof="0" dirty="0"/>
              <a:t>modelli ottimizzati </a:t>
            </a:r>
            <a:r>
              <a:rPr lang="it-IT" noProof="0" dirty="0"/>
              <a:t>sono risultati più resistenti al rumore rispetto ai corrispettivi </a:t>
            </a:r>
            <a:r>
              <a:rPr lang="it-IT" noProof="0" dirty="0" err="1"/>
              <a:t>naive</a:t>
            </a:r>
            <a:r>
              <a:rPr lang="it-IT" noProof="0" dirty="0"/>
              <a:t>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79B1BE-B4DA-14A5-96E7-7EC68EB3B901}"/>
              </a:ext>
            </a:extLst>
          </p:cNvPr>
          <p:cNvSpPr/>
          <p:nvPr/>
        </p:nvSpPr>
        <p:spPr>
          <a:xfrm>
            <a:off x="838200" y="5050778"/>
            <a:ext cx="10515599" cy="83978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La tipologia di rumore più problematica è stato il </a:t>
            </a:r>
            <a:r>
              <a:rPr lang="en-IT" b="1" dirty="0"/>
              <a:t>rumore sulla feature target.</a:t>
            </a:r>
          </a:p>
        </p:txBody>
      </p:sp>
    </p:spTree>
    <p:extLst>
      <p:ext uri="{BB962C8B-B14F-4D97-AF65-F5344CB8AC3E}">
        <p14:creationId xmlns:p14="http://schemas.microsoft.com/office/powerpoint/2010/main" val="300655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6573</TotalTime>
  <Words>632</Words>
  <Application>Microsoft Macintosh PowerPoint</Application>
  <PresentationFormat>Widescreen</PresentationFormat>
  <Paragraphs>100</Paragraphs>
  <Slides>42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Wingdings</vt:lpstr>
      <vt:lpstr>Office Theme</vt:lpstr>
      <vt:lpstr>Analisi delle performance di 3 modelli di machine learning su un dataset progressivamente sporcato</vt:lpstr>
      <vt:lpstr>Processo di degradazione</vt:lpstr>
      <vt:lpstr>Metodologia degradazione dataset</vt:lpstr>
      <vt:lpstr>Metodologia analisi risultati</vt:lpstr>
      <vt:lpstr>Metodologia analisi risultati</vt:lpstr>
      <vt:lpstr>Metodologia analisi risultati</vt:lpstr>
      <vt:lpstr>Metodologia analisi risultati</vt:lpstr>
      <vt:lpstr>Metodologia analisi risultati</vt:lpstr>
      <vt:lpstr>Valori nulli</vt:lpstr>
      <vt:lpstr>Distribuzione dataset sporcato</vt:lpstr>
      <vt:lpstr>Risultati valori nulli – andamento metriche dt </vt:lpstr>
      <vt:lpstr>Risultati valori nulli – andamento metriche svm </vt:lpstr>
      <vt:lpstr>Risultati valori nulli – andamento metriche nn </vt:lpstr>
      <vt:lpstr>Risultati valori nulli  andamento matrici di confusione</vt:lpstr>
      <vt:lpstr>Risultati valori nulli – mutua informazione</vt:lpstr>
      <vt:lpstr>Risultati valori nulli – mutua informazione</vt:lpstr>
      <vt:lpstr>Risultati valori nulli – importanza feature dt</vt:lpstr>
      <vt:lpstr>Risultati valori nulli – importanza feature dt</vt:lpstr>
      <vt:lpstr>Valori duplicati</vt:lpstr>
      <vt:lpstr>Valori duplicati – andamento metriche dt</vt:lpstr>
      <vt:lpstr>Valori duplicati – andamento metriche svm</vt:lpstr>
      <vt:lpstr>Valori duplicati – andamento metriche nn</vt:lpstr>
      <vt:lpstr>Valori duplicati – analisi overfitting nei dt</vt:lpstr>
      <vt:lpstr>Valori duplicati andamento matrici di confusione</vt:lpstr>
      <vt:lpstr>Risultati valori duplicati – mutua informazione</vt:lpstr>
      <vt:lpstr>Risultati valori duplicati – importanza feature nei dt</vt:lpstr>
      <vt:lpstr>Outliers</vt:lpstr>
      <vt:lpstr>Distribuzione dataset sporcato</vt:lpstr>
      <vt:lpstr>Risultati outliers – andamento metriche dt </vt:lpstr>
      <vt:lpstr>Risultati outliers – andamento metriche svm </vt:lpstr>
      <vt:lpstr>Risultati outliers – andamento metriche nn </vt:lpstr>
      <vt:lpstr>Outliers  -andamento matrici di confusione</vt:lpstr>
      <vt:lpstr>Outliers – importanza feature dt</vt:lpstr>
      <vt:lpstr>Outliers – andamento mutua informazione</vt:lpstr>
      <vt:lpstr>Rumore sulla feature target</vt:lpstr>
      <vt:lpstr>Risultati label noisy – andamento metriche dt </vt:lpstr>
      <vt:lpstr>Risultati label noisy – andamento metriche svm </vt:lpstr>
      <vt:lpstr>Risultati label noisy – andamento metriche nn </vt:lpstr>
      <vt:lpstr>Risultati label noisy – andamento matrici di confusione</vt:lpstr>
      <vt:lpstr>Label noisy – importanza feature dt</vt:lpstr>
      <vt:lpstr>Label noisy – andamento mutua informazione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spagnolo</dc:creator>
  <cp:lastModifiedBy>andrea spagnolo</cp:lastModifiedBy>
  <cp:revision>6</cp:revision>
  <dcterms:created xsi:type="dcterms:W3CDTF">2025-09-10T12:48:09Z</dcterms:created>
  <dcterms:modified xsi:type="dcterms:W3CDTF">2025-10-09T10:23:04Z</dcterms:modified>
</cp:coreProperties>
</file>