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56" r:id="rId2"/>
    <p:sldId id="260" r:id="rId3"/>
    <p:sldId id="258" r:id="rId4"/>
    <p:sldId id="265" r:id="rId5"/>
    <p:sldId id="261" r:id="rId6"/>
    <p:sldId id="262" r:id="rId7"/>
    <p:sldId id="263" r:id="rId8"/>
    <p:sldId id="264" r:id="rId9"/>
    <p:sldId id="266" r:id="rId10"/>
    <p:sldId id="27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300" r:id="rId19"/>
    <p:sldId id="275" r:id="rId20"/>
    <p:sldId id="277" r:id="rId21"/>
    <p:sldId id="278" r:id="rId22"/>
    <p:sldId id="279" r:id="rId23"/>
    <p:sldId id="280" r:id="rId24"/>
    <p:sldId id="281" r:id="rId25"/>
    <p:sldId id="282" r:id="rId26"/>
    <p:sldId id="284" r:id="rId27"/>
    <p:sldId id="285" r:id="rId28"/>
    <p:sldId id="286" r:id="rId29"/>
    <p:sldId id="287" r:id="rId30"/>
    <p:sldId id="288" r:id="rId31"/>
    <p:sldId id="289" r:id="rId32"/>
    <p:sldId id="290" r:id="rId33"/>
    <p:sldId id="291" r:id="rId34"/>
    <p:sldId id="301" r:id="rId35"/>
    <p:sldId id="302" r:id="rId36"/>
    <p:sldId id="303" r:id="rId37"/>
    <p:sldId id="304" r:id="rId38"/>
    <p:sldId id="305" r:id="rId39"/>
    <p:sldId id="306" r:id="rId40"/>
    <p:sldId id="307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</p:sldIdLst>
  <p:sldSz cx="12192000" cy="6858000"/>
  <p:notesSz cx="6858000" cy="9144000"/>
  <p:defaultTextStyle>
    <a:defPPr>
      <a:defRPr lang="en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66698"/>
    <a:srgbClr val="55B1FF"/>
    <a:srgbClr val="55A3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868"/>
    <p:restoredTop sz="94830"/>
  </p:normalViewPr>
  <p:slideViewPr>
    <p:cSldViewPr snapToGrid="0">
      <p:cViewPr varScale="1">
        <p:scale>
          <a:sx n="93" d="100"/>
          <a:sy n="93" d="100"/>
        </p:scale>
        <p:origin x="216" y="5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7EE1A-E6AB-3244-BD46-C86FFC0895A0}" type="datetimeFigureOut">
              <a:rPr lang="en-IT" smtClean="0"/>
              <a:t>11/01/26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33AAA9-3AAE-6544-8564-C7265944E9ED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784500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33AAA9-3AAE-6544-8564-C7265944E9ED}" type="slidenum">
              <a:rPr lang="en-IT" smtClean="0"/>
              <a:t>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387942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33AAA9-3AAE-6544-8564-C7265944E9ED}" type="slidenum">
              <a:rPr lang="en-IT" smtClean="0"/>
              <a:t>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0558630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33AAA9-3AAE-6544-8564-C7265944E9ED}" type="slidenum">
              <a:rPr lang="en-IT" smtClean="0"/>
              <a:t>16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109662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33AAA9-3AAE-6544-8564-C7265944E9ED}" type="slidenum">
              <a:rPr lang="en-IT" smtClean="0"/>
              <a:t>23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4971508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8BCF8-C1E7-2A0C-A465-18D37EA66B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4DB922-9803-8D75-1443-574E980485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69199-498A-6A1B-AB91-41A7AA9E8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299F-A64B-1449-90CC-95EFB3240C29}" type="datetime1">
              <a:rPr lang="it-IT" smtClean="0"/>
              <a:t>11/01/26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633017-97CB-00CC-A1FA-629A815B8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D6DF1-9EE7-AB0D-EB5D-31124C76D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117556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9EF41-5F6E-3295-6C54-D42E0835C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9C6DBC-EBE1-186B-981A-3A5AFE8A12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07BA46-3105-33C8-BB5D-006CF4DF8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8386-FF4E-524F-9CE7-EE190472B54E}" type="datetime1">
              <a:rPr lang="it-IT" smtClean="0"/>
              <a:t>11/01/26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A62272-67A8-4E24-F9C2-FF05969FD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5CD5DF-3863-E6BD-9BF7-3FF43567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77902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54713-015F-B209-8F67-ABC52DE67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078C1E-A09E-E394-E89E-41F26226E0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9E21F-5BC4-36D6-300E-A9F7ACF0D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E068F-9B2B-CF43-935B-EA81C21BEFF0}" type="datetime1">
              <a:rPr lang="it-IT" smtClean="0"/>
              <a:t>11/01/26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D2467-FF25-8DE8-DDDD-BDC4BF03E2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C7CA3F-8A7D-3B77-7C7A-681702322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045449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32702-0E6F-7EBB-3380-7525F3596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04E83-0A72-C138-3281-EB31024485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2A931D-641F-D921-B41C-CA6A71D69F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F0964F-83FB-8BA7-05E1-A3A54B3D4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AF1A2B-22A8-1946-B9B6-09652D015C83}" type="datetime1">
              <a:rPr lang="it-IT" smtClean="0"/>
              <a:t>11/01/26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14F906-E333-F82A-80A4-3211265CF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CF1A74-6F92-8ED2-577F-1B12D72F5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07519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DCBAA-03D9-46E7-F270-305380550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CA3783-9A14-114E-2725-D081FCF4A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576CF-7BED-972D-E6EF-29667D732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D92BB1-E4BE-A535-DCF0-54A500F434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2819CF-18B7-77EB-5507-041374E65B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08FEEEA-6673-C6A1-5A1A-071BADDD0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89CF5-6B7C-5843-97E9-BE124EEA4C5D}" type="datetime1">
              <a:rPr lang="it-IT" smtClean="0"/>
              <a:t>11/01/26</a:t>
            </a:fld>
            <a:endParaRPr lang="en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E2496E-33E4-7FB7-6C17-C87A4BB89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B8AD78-9BAF-B60C-8463-23D61762B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892555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03A43-EF30-EEEE-C6BD-90AE4A6D3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E68CEB-4160-75DF-93E3-FB0CE309C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63A59-FE1C-3543-A610-CB25B53E8E30}" type="datetime1">
              <a:rPr lang="it-IT" smtClean="0"/>
              <a:t>11/01/26</a:t>
            </a:fld>
            <a:endParaRPr lang="en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2397CB-7710-5D3D-5CB5-A25FE74F8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E37F9F-9709-34EE-96B1-820E23F1A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3012454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73A240-09A1-A2BC-006D-A7C7A5785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B61B4-4CA3-DB47-945F-32FE510E9E8A}" type="datetime1">
              <a:rPr lang="it-IT" smtClean="0"/>
              <a:t>11/01/26</a:t>
            </a:fld>
            <a:endParaRPr lang="en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66474A-C959-758B-E0D3-815FCFAE9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3C5770-5F9C-B568-6481-1AA7CBF72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5885860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99025-22BE-627C-B94A-04BD0D19F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F26E84-CD15-613D-FD40-91CF60E03A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A4BEA8-78A3-D117-71CA-54A4C80B30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786F17-92C7-FE8A-3037-E49906B11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9935C-C652-8F42-BD63-4106351C3C6A}" type="datetime1">
              <a:rPr lang="it-IT" smtClean="0"/>
              <a:t>11/01/26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18B048-2122-ADF2-9ACC-B2015F3E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BD3E2-4BD7-D61F-B658-DDAD39E77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0242719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A1025-A6DF-B3ED-CEE7-29294AEC3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B54592-A0AC-6E7F-41CA-A8C17D4EF3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8575D4-684A-62C9-9C59-FC5F13C7C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5271D4-4C55-18EF-857E-5B0E1BC47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324F97-DE19-CB45-B135-F3F655585450}" type="datetime1">
              <a:rPr lang="it-IT" smtClean="0"/>
              <a:t>11/01/26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98B087-CB7C-2CE7-DB9B-2F845FE46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1A7895-4E49-9D0B-BA66-8EAD3ABE1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790604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B4CE4-D7CF-46D9-539E-BC8176E2D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5EDEE9-08AA-EA4B-492A-C23CEFF65A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285BA-308B-F7FE-9B9E-99EBE7B35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356D28-49F7-4043-BADF-31D7D4324A2F}" type="datetime1">
              <a:rPr lang="it-IT" smtClean="0"/>
              <a:t>11/01/26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46D2EC-DB02-F941-1F30-795D22E44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BD4B15-39A6-CA4C-EC48-06FB592E3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086198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AAEF2E-6C2C-D149-6277-C10D7AEBCA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CB559D-FAF6-3EC0-944D-5F3448C01A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18FBBA-284D-18FC-1EE9-1E7F7DA9D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BA19B-9958-DD4F-ABE5-FA818A8364A1}" type="datetime1">
              <a:rPr lang="it-IT" smtClean="0"/>
              <a:t>11/01/26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0CA75-6043-91A6-1B67-535116411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0A5582-890F-2778-9C5A-8C9BF130B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1200542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6BCAB1-82F1-5DD9-49A4-EED4C4638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B863BA-D4DB-E69F-13AD-1074BC55D6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D7B5B8-F12E-EF52-D04B-9F8F694102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6BFE42-5C94-7D46-A5BC-EDAA07296840}" type="datetime1">
              <a:rPr lang="it-IT" smtClean="0"/>
              <a:t>11/01/26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6521B-EB54-85D5-A357-73C3ECECB0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554913-C09A-2202-F1DB-C07621FBE8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331904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4" name="Picture 10" descr="PARTNER | Distretto Bicocca">
            <a:extLst>
              <a:ext uri="{FF2B5EF4-FFF2-40B4-BE49-F238E27FC236}">
                <a16:creationId xmlns:a16="http://schemas.microsoft.com/office/drawing/2014/main" id="{0B480026-C315-4264-543E-C72B5101842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30" t="18924" r="20231" b="16914"/>
          <a:stretch>
            <a:fillRect/>
          </a:stretch>
        </p:blipFill>
        <p:spPr bwMode="auto">
          <a:xfrm>
            <a:off x="127000" y="101601"/>
            <a:ext cx="13081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67C48A-D24A-671E-B6DB-403023E115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98008"/>
            <a:ext cx="9144000" cy="3347125"/>
          </a:xfrm>
        </p:spPr>
        <p:txBody>
          <a:bodyPr>
            <a:normAutofit fontScale="90000"/>
          </a:bodyPr>
          <a:lstStyle/>
          <a:p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A</a:t>
            </a:r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nalisi delle performance di 3 modelli di machine learning su un dataset progressivamente sporcato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F81E8E-E7B3-5074-603E-FD9EA0AF4C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60985"/>
            <a:ext cx="9144000" cy="1655762"/>
          </a:xfrm>
        </p:spPr>
        <p:txBody>
          <a:bodyPr/>
          <a:lstStyle/>
          <a:p>
            <a:r>
              <a:rPr lang="en-IT" dirty="0"/>
              <a:t>Andrea Spagnolo 879254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888639-B3FD-5FB3-D15B-7A0DA6EB584A}"/>
              </a:ext>
            </a:extLst>
          </p:cNvPr>
          <p:cNvCxnSpPr/>
          <p:nvPr/>
        </p:nvCxnSpPr>
        <p:spPr>
          <a:xfrm>
            <a:off x="4166992" y="4445239"/>
            <a:ext cx="3858016" cy="0"/>
          </a:xfrm>
          <a:prstGeom prst="line">
            <a:avLst/>
          </a:prstGeom>
          <a:ln w="47625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Heart (Fornito da Getty Images)">
            <a:extLst>
              <a:ext uri="{FF2B5EF4-FFF2-40B4-BE49-F238E27FC236}">
                <a16:creationId xmlns:a16="http://schemas.microsoft.com/office/drawing/2014/main" id="{7FD04439-E4E6-82A4-0B49-5D5DCC11A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31681" y="3918633"/>
            <a:ext cx="2260319" cy="2939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33317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F5448-7821-18A0-EF29-60990072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125412"/>
            <a:ext cx="10515600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Processo di degradazione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7778C84-5B53-7521-85C7-68526F4C1C66}"/>
              </a:ext>
            </a:extLst>
          </p:cNvPr>
          <p:cNvSpPr/>
          <p:nvPr/>
        </p:nvSpPr>
        <p:spPr>
          <a:xfrm>
            <a:off x="2759075" y="1936752"/>
            <a:ext cx="6673850" cy="8397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42950" indent="-742950">
              <a:buFont typeface="Wingdings" pitchFamily="2" charset="2"/>
              <a:buChar char="Ø"/>
            </a:pPr>
            <a:r>
              <a:rPr lang="en-IT" sz="3600" dirty="0"/>
              <a:t>Valori nulli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11D0F30-E4D4-67F3-6E4B-8EF222B3E292}"/>
              </a:ext>
            </a:extLst>
          </p:cNvPr>
          <p:cNvSpPr/>
          <p:nvPr/>
        </p:nvSpPr>
        <p:spPr>
          <a:xfrm>
            <a:off x="2759075" y="2905924"/>
            <a:ext cx="6673850" cy="839786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42950" indent="-742950">
              <a:buFont typeface="Wingdings" pitchFamily="2" charset="2"/>
              <a:buChar char="Ø"/>
            </a:pPr>
            <a:r>
              <a:rPr lang="en-IT" sz="3600" dirty="0"/>
              <a:t>Valori duplicati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4DAAFFB-DFB9-445E-2B5D-418A8372FFDE}"/>
              </a:ext>
            </a:extLst>
          </p:cNvPr>
          <p:cNvSpPr/>
          <p:nvPr/>
        </p:nvSpPr>
        <p:spPr>
          <a:xfrm>
            <a:off x="2759075" y="3875096"/>
            <a:ext cx="6673850" cy="839786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42950" indent="-742950">
              <a:buFont typeface="Wingdings" pitchFamily="2" charset="2"/>
              <a:buChar char="Ø"/>
            </a:pPr>
            <a:r>
              <a:rPr lang="en-IT" sz="3600" dirty="0"/>
              <a:t>Outliers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210C424-7B5A-0A57-A426-77E589E957D1}"/>
              </a:ext>
            </a:extLst>
          </p:cNvPr>
          <p:cNvSpPr/>
          <p:nvPr/>
        </p:nvSpPr>
        <p:spPr>
          <a:xfrm>
            <a:off x="2759075" y="5769996"/>
            <a:ext cx="6673850" cy="839786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42950" indent="-742950">
              <a:buFont typeface="Wingdings" pitchFamily="2" charset="2"/>
              <a:buChar char="Ø"/>
            </a:pPr>
            <a:r>
              <a:rPr lang="en-IT" sz="3600" dirty="0"/>
              <a:t>Rumore sulla feature target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6609AD-E0E1-A8AD-05C9-20159D9F6C6F}"/>
              </a:ext>
            </a:extLst>
          </p:cNvPr>
          <p:cNvSpPr txBox="1"/>
          <p:nvPr/>
        </p:nvSpPr>
        <p:spPr>
          <a:xfrm>
            <a:off x="4546600" y="1189365"/>
            <a:ext cx="28794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2800" dirty="0"/>
              <a:t>5 diversi approci: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C4F7B59-75E5-0DEE-5BF3-34DF2AAD6DBD}"/>
              </a:ext>
            </a:extLst>
          </p:cNvPr>
          <p:cNvSpPr/>
          <p:nvPr/>
        </p:nvSpPr>
        <p:spPr>
          <a:xfrm>
            <a:off x="2759075" y="4822546"/>
            <a:ext cx="6673850" cy="839786"/>
          </a:xfrm>
          <a:prstGeom prst="roundRect">
            <a:avLst/>
          </a:prstGeom>
          <a:solidFill>
            <a:srgbClr val="55B1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42950" indent="-742950">
              <a:buFont typeface="Wingdings" pitchFamily="2" charset="2"/>
              <a:buChar char="Ø"/>
            </a:pPr>
            <a:r>
              <a:rPr lang="en-GB" sz="3600" dirty="0"/>
              <a:t>R</a:t>
            </a:r>
            <a:r>
              <a:rPr lang="en-IT" sz="3600" dirty="0"/>
              <a:t>umore sulle feature binarie</a:t>
            </a:r>
          </a:p>
        </p:txBody>
      </p:sp>
    </p:spTree>
    <p:extLst>
      <p:ext uri="{BB962C8B-B14F-4D97-AF65-F5344CB8AC3E}">
        <p14:creationId xmlns:p14="http://schemas.microsoft.com/office/powerpoint/2010/main" val="4027281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00892-2925-C9B2-9D86-350DB27B6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Metodologia degradazione dataset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B50BE0B-2EED-2907-F654-DF2B2E93770D}"/>
              </a:ext>
            </a:extLst>
          </p:cNvPr>
          <p:cNvSpPr/>
          <p:nvPr/>
        </p:nvSpPr>
        <p:spPr>
          <a:xfrm>
            <a:off x="838200" y="2079813"/>
            <a:ext cx="2008095" cy="1487110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</a:t>
            </a:r>
            <a:r>
              <a:rPr lang="en-IT" dirty="0"/>
              <a:t>ichiamo dataset pulito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D6FA5E77-8A64-DF7A-01E7-62C9A6C539F4}"/>
              </a:ext>
            </a:extLst>
          </p:cNvPr>
          <p:cNvSpPr/>
          <p:nvPr/>
        </p:nvSpPr>
        <p:spPr>
          <a:xfrm>
            <a:off x="3659843" y="2079812"/>
            <a:ext cx="2008094" cy="1487111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Divisione in feature binarie e continue</a:t>
            </a:r>
            <a:endParaRPr lang="en-IT" dirty="0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3AEF92A-ACF0-5792-F83D-63DEF6920B26}"/>
              </a:ext>
            </a:extLst>
          </p:cNvPr>
          <p:cNvSpPr/>
          <p:nvPr/>
        </p:nvSpPr>
        <p:spPr>
          <a:xfrm>
            <a:off x="6481486" y="2103438"/>
            <a:ext cx="2008093" cy="1463486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Applicazione procedura di degradazione dataset</a:t>
            </a:r>
            <a:endParaRPr lang="en-IT" dirty="0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D5454E7C-378D-FAD8-6432-51DA73C3E261}"/>
              </a:ext>
            </a:extLst>
          </p:cNvPr>
          <p:cNvSpPr/>
          <p:nvPr/>
        </p:nvSpPr>
        <p:spPr>
          <a:xfrm>
            <a:off x="9303129" y="2079812"/>
            <a:ext cx="2008093" cy="1463487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</a:t>
            </a:r>
            <a:r>
              <a:rPr lang="en-IT" dirty="0"/>
              <a:t>alcolo mutua informazione datasets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E615046-2025-E3A6-4BCC-16BFAE8F4FB3}"/>
              </a:ext>
            </a:extLst>
          </p:cNvPr>
          <p:cNvSpPr/>
          <p:nvPr/>
        </p:nvSpPr>
        <p:spPr>
          <a:xfrm>
            <a:off x="6481486" y="4012920"/>
            <a:ext cx="2008093" cy="1498922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Calcolo metriche 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A9AB167-FDFA-6D9F-4B41-1C5F2F2DC2EB}"/>
              </a:ext>
            </a:extLst>
          </p:cNvPr>
          <p:cNvSpPr/>
          <p:nvPr/>
        </p:nvSpPr>
        <p:spPr>
          <a:xfrm>
            <a:off x="880778" y="4012920"/>
            <a:ext cx="2008094" cy="1498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Addestramento modelli su datasets sporchi</a:t>
            </a:r>
            <a:endParaRPr lang="en-IT" dirty="0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D0F74998-5C0A-1F0B-52EC-C44AAE6AA1B4}"/>
              </a:ext>
            </a:extLst>
          </p:cNvPr>
          <p:cNvSpPr/>
          <p:nvPr/>
        </p:nvSpPr>
        <p:spPr>
          <a:xfrm>
            <a:off x="9303128" y="4012920"/>
            <a:ext cx="2008094" cy="1498922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Calcolo matrici di confusione</a:t>
            </a:r>
            <a:endParaRPr lang="en-IT" dirty="0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F87C66C3-6EF0-62FB-252B-994F6ACF17FA}"/>
              </a:ext>
            </a:extLst>
          </p:cNvPr>
          <p:cNvSpPr/>
          <p:nvPr/>
        </p:nvSpPr>
        <p:spPr>
          <a:xfrm>
            <a:off x="3659843" y="4012919"/>
            <a:ext cx="2008094" cy="1498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Calcolo importanza feature decision tree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C3821D5C-B656-90DC-E5D1-5BA2EE84FE60}"/>
              </a:ext>
            </a:extLst>
          </p:cNvPr>
          <p:cNvSpPr/>
          <p:nvPr/>
        </p:nvSpPr>
        <p:spPr>
          <a:xfrm>
            <a:off x="7277380" y="3832878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7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9FBC8E4C-832C-7620-0C18-D6A5358F8BA8}"/>
              </a:ext>
            </a:extLst>
          </p:cNvPr>
          <p:cNvSpPr/>
          <p:nvPr/>
        </p:nvSpPr>
        <p:spPr>
          <a:xfrm>
            <a:off x="4473763" y="1899772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14D65E20-6AC6-9A46-F906-6961EF46EF6D}"/>
              </a:ext>
            </a:extLst>
          </p:cNvPr>
          <p:cNvSpPr/>
          <p:nvPr/>
        </p:nvSpPr>
        <p:spPr>
          <a:xfrm>
            <a:off x="7295405" y="1914526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3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47B99730-E5E2-EB8F-1AD0-DB0B5E9F3189}"/>
              </a:ext>
            </a:extLst>
          </p:cNvPr>
          <p:cNvSpPr/>
          <p:nvPr/>
        </p:nvSpPr>
        <p:spPr>
          <a:xfrm>
            <a:off x="10117048" y="1923397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4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E5076BEC-7EB5-61A3-5597-8943AACA20D5}"/>
              </a:ext>
            </a:extLst>
          </p:cNvPr>
          <p:cNvSpPr/>
          <p:nvPr/>
        </p:nvSpPr>
        <p:spPr>
          <a:xfrm>
            <a:off x="1694698" y="3832878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5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8293ADF3-05F2-E534-0D22-69152A944134}"/>
              </a:ext>
            </a:extLst>
          </p:cNvPr>
          <p:cNvSpPr/>
          <p:nvPr/>
        </p:nvSpPr>
        <p:spPr>
          <a:xfrm>
            <a:off x="4470586" y="3832878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6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5E2A35DC-1A8D-BC97-B30E-955EDC422EF4}"/>
              </a:ext>
            </a:extLst>
          </p:cNvPr>
          <p:cNvSpPr/>
          <p:nvPr/>
        </p:nvSpPr>
        <p:spPr>
          <a:xfrm>
            <a:off x="1652119" y="1870730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F935C44D-196A-F2F9-BBC8-38E6DD1B0A74}"/>
              </a:ext>
            </a:extLst>
          </p:cNvPr>
          <p:cNvSpPr/>
          <p:nvPr/>
        </p:nvSpPr>
        <p:spPr>
          <a:xfrm>
            <a:off x="10117048" y="3832878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6944128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463E2-E4A9-1CA8-2941-F109E79AC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3FC1D80-E73C-F6E1-CF74-2351FBE09019}"/>
              </a:ext>
            </a:extLst>
          </p:cNvPr>
          <p:cNvSpPr/>
          <p:nvPr/>
        </p:nvSpPr>
        <p:spPr>
          <a:xfrm>
            <a:off x="2241550" y="1435100"/>
            <a:ext cx="8953500" cy="481330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276D1AA-DFC3-F167-F5E5-ADBC69C03A76}"/>
              </a:ext>
            </a:extLst>
          </p:cNvPr>
          <p:cNvSpPr/>
          <p:nvPr/>
        </p:nvSpPr>
        <p:spPr>
          <a:xfrm>
            <a:off x="1987550" y="1435100"/>
            <a:ext cx="8953500" cy="4813300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553671-1E96-32CC-1208-86507CC2B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6950" y="109537"/>
            <a:ext cx="10515600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Metodologia analisi risultati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24197AD-824D-A5BB-6D7F-E7AD33E837A4}"/>
              </a:ext>
            </a:extLst>
          </p:cNvPr>
          <p:cNvSpPr/>
          <p:nvPr/>
        </p:nvSpPr>
        <p:spPr>
          <a:xfrm>
            <a:off x="1733550" y="1435100"/>
            <a:ext cx="8953500" cy="4813300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AE5EEAC-0F0F-7D4D-D5E5-C91EE7F89197}"/>
              </a:ext>
            </a:extLst>
          </p:cNvPr>
          <p:cNvSpPr/>
          <p:nvPr/>
        </p:nvSpPr>
        <p:spPr>
          <a:xfrm>
            <a:off x="1441450" y="1435100"/>
            <a:ext cx="8953500" cy="4813300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IT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A8CC23A-5939-A50A-4EE9-0493EDB41924}"/>
              </a:ext>
            </a:extLst>
          </p:cNvPr>
          <p:cNvSpPr/>
          <p:nvPr/>
        </p:nvSpPr>
        <p:spPr>
          <a:xfrm>
            <a:off x="1441450" y="1435100"/>
            <a:ext cx="8705850" cy="481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IT" sz="3600" dirty="0"/>
              <a:t>Visualizzazione mutua informazione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530816-BA6B-C7E9-315F-6F99EC2577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6300" y="2532063"/>
            <a:ext cx="5207000" cy="310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1575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09BACDB-60D4-9EDC-281C-5E35EEA88748}"/>
              </a:ext>
            </a:extLst>
          </p:cNvPr>
          <p:cNvSpPr/>
          <p:nvPr/>
        </p:nvSpPr>
        <p:spPr>
          <a:xfrm>
            <a:off x="2241550" y="1435100"/>
            <a:ext cx="8953500" cy="481330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247A8CC-7047-E32F-DDC0-E6839EF66DA3}"/>
              </a:ext>
            </a:extLst>
          </p:cNvPr>
          <p:cNvSpPr/>
          <p:nvPr/>
        </p:nvSpPr>
        <p:spPr>
          <a:xfrm>
            <a:off x="1987550" y="1435100"/>
            <a:ext cx="8953500" cy="4813300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AC0554-265B-B67C-F0DC-3707E7F9D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6950" y="109537"/>
            <a:ext cx="10515600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Metodologia analisi risultati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86F7112-C0F6-B5F5-D556-485D00E9DCF1}"/>
              </a:ext>
            </a:extLst>
          </p:cNvPr>
          <p:cNvSpPr/>
          <p:nvPr/>
        </p:nvSpPr>
        <p:spPr>
          <a:xfrm>
            <a:off x="1733550" y="1435100"/>
            <a:ext cx="8953500" cy="4813300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7F31A5A-F847-A8A5-658E-9BE7E64EE547}"/>
              </a:ext>
            </a:extLst>
          </p:cNvPr>
          <p:cNvSpPr/>
          <p:nvPr/>
        </p:nvSpPr>
        <p:spPr>
          <a:xfrm>
            <a:off x="1441450" y="1435100"/>
            <a:ext cx="8953500" cy="4813300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IT" sz="3600" dirty="0"/>
              <a:t>Visualizzazione dataset degradato</a:t>
            </a:r>
          </a:p>
          <a:p>
            <a:pPr algn="ctr"/>
            <a:endParaRPr lang="en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DDCCDA-1681-000D-2E8A-F4555F893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393" y="2995083"/>
            <a:ext cx="7463213" cy="1693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210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3AFD4-8857-DBD0-D114-79FFE82C3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28DD5D6-68B1-92FC-C585-0F4D1EE78A8D}"/>
              </a:ext>
            </a:extLst>
          </p:cNvPr>
          <p:cNvSpPr/>
          <p:nvPr/>
        </p:nvSpPr>
        <p:spPr>
          <a:xfrm>
            <a:off x="2241550" y="1435100"/>
            <a:ext cx="8953500" cy="481330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FC6E8E8-6634-FE42-B62E-EC1413BCC6C2}"/>
              </a:ext>
            </a:extLst>
          </p:cNvPr>
          <p:cNvSpPr/>
          <p:nvPr/>
        </p:nvSpPr>
        <p:spPr>
          <a:xfrm>
            <a:off x="1987550" y="1435100"/>
            <a:ext cx="8953500" cy="4813300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656A82-CA9F-24D8-C96D-2DA137A2F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6950" y="109537"/>
            <a:ext cx="10515600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Metodologia analisi risultati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26FD748-34A6-D106-EDE8-41189D1601AF}"/>
              </a:ext>
            </a:extLst>
          </p:cNvPr>
          <p:cNvSpPr/>
          <p:nvPr/>
        </p:nvSpPr>
        <p:spPr>
          <a:xfrm>
            <a:off x="1733550" y="1435100"/>
            <a:ext cx="8953500" cy="4813300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IT" sz="3600" dirty="0"/>
              <a:t>Visualizzazione andamento metriche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DF3BEF-AD5A-D995-A91F-6F6522F5B6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050" y="2760663"/>
            <a:ext cx="7772400" cy="2895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970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B83D2-13F8-588A-B5CD-76AF8BB25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60EA1DF-66B9-80E1-15AE-141A1B2C0262}"/>
              </a:ext>
            </a:extLst>
          </p:cNvPr>
          <p:cNvSpPr/>
          <p:nvPr/>
        </p:nvSpPr>
        <p:spPr>
          <a:xfrm>
            <a:off x="2241550" y="1435100"/>
            <a:ext cx="8953500" cy="481330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7A36E5F-C5A9-95D8-7CAE-3017B8571E01}"/>
              </a:ext>
            </a:extLst>
          </p:cNvPr>
          <p:cNvSpPr/>
          <p:nvPr/>
        </p:nvSpPr>
        <p:spPr>
          <a:xfrm>
            <a:off x="1987550" y="1435100"/>
            <a:ext cx="8953500" cy="4813300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IT" sz="3600" dirty="0"/>
              <a:t>Visualizzazione andamento matrici di confusione</a:t>
            </a:r>
          </a:p>
          <a:p>
            <a:pPr algn="ctr"/>
            <a:endParaRPr lang="en-IT" dirty="0"/>
          </a:p>
          <a:p>
            <a:pPr algn="ctr"/>
            <a:endParaRPr lang="en-IT" dirty="0"/>
          </a:p>
          <a:p>
            <a:pPr algn="ctr"/>
            <a:endParaRPr lang="en-IT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7C8285-3D31-39D4-6093-229ED227C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6950" y="109537"/>
            <a:ext cx="10515600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Metodologia analisi risultati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40B759-1B29-5F26-5DF4-DDB70311B8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8100" y="3060700"/>
            <a:ext cx="7772400" cy="2683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7195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F88EA-CFA9-771C-D690-71E86D746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FA39CCC-952F-8171-364A-6373C9046BA2}"/>
              </a:ext>
            </a:extLst>
          </p:cNvPr>
          <p:cNvSpPr/>
          <p:nvPr/>
        </p:nvSpPr>
        <p:spPr>
          <a:xfrm>
            <a:off x="2241550" y="1435100"/>
            <a:ext cx="8953500" cy="481330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IT" sz="3600" dirty="0"/>
              <a:t>Visualizzazione evoluzione importanza delle feature negli alberi di decisione</a:t>
            </a:r>
          </a:p>
          <a:p>
            <a:pPr algn="ctr"/>
            <a:endParaRPr lang="en-IT" sz="1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4BE3C1-5359-D816-88AB-3FABCAFB9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6950" y="109537"/>
            <a:ext cx="10515600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Metodologia analisi risultati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BFF9F99-01EB-725B-22C1-0FF768C931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2705" y="3175000"/>
            <a:ext cx="3625850" cy="251655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06EF117-A381-425B-E55C-A1EC748D2A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810" y="3175000"/>
            <a:ext cx="3593540" cy="2516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91539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57953-4253-2795-066F-96913AAA2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Valori nulli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AD7BB0-AF47-6F8E-EDF5-E571A5DD4E67}"/>
              </a:ext>
            </a:extLst>
          </p:cNvPr>
          <p:cNvSpPr txBox="1"/>
          <p:nvPr/>
        </p:nvSpPr>
        <p:spPr>
          <a:xfrm>
            <a:off x="939800" y="1662492"/>
            <a:ext cx="1031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noProof="0" dirty="0"/>
              <a:t>I valori nulli sono una problematica molto diffusa nei dataset e possono avere cause diverse come guasti ai sensori, errori di inserimento, risposte mancanti …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27339FA-AA64-B128-39DB-FF7434C30ED6}"/>
              </a:ext>
            </a:extLst>
          </p:cNvPr>
          <p:cNvSpPr/>
          <p:nvPr/>
        </p:nvSpPr>
        <p:spPr>
          <a:xfrm>
            <a:off x="880778" y="3149601"/>
            <a:ext cx="2008095" cy="1487110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Aggiuntiva progressiva di valori nulli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95A05F9-C0C1-157D-6D38-CD55EACD77A4}"/>
              </a:ext>
            </a:extLst>
          </p:cNvPr>
          <p:cNvSpPr/>
          <p:nvPr/>
        </p:nvSpPr>
        <p:spPr>
          <a:xfrm>
            <a:off x="3702421" y="3149600"/>
            <a:ext cx="2008094" cy="1487111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Sostituzione valori nulli con diverse metodi di imputazione</a:t>
            </a:r>
            <a:endParaRPr lang="en-IT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819DABB-9DFA-39DB-A8B5-C054A21717F0}"/>
              </a:ext>
            </a:extLst>
          </p:cNvPr>
          <p:cNvSpPr/>
          <p:nvPr/>
        </p:nvSpPr>
        <p:spPr>
          <a:xfrm>
            <a:off x="6524064" y="3173226"/>
            <a:ext cx="2008093" cy="1463486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</a:t>
            </a:r>
            <a:r>
              <a:rPr lang="en-IT" dirty="0"/>
              <a:t>orrezione valori non binari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45C06EE-D0CA-6B69-33FB-F4A1353499A1}"/>
              </a:ext>
            </a:extLst>
          </p:cNvPr>
          <p:cNvSpPr/>
          <p:nvPr/>
        </p:nvSpPr>
        <p:spPr>
          <a:xfrm>
            <a:off x="9345707" y="3149600"/>
            <a:ext cx="2008093" cy="1463487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Addestramento modelli sui datasets sporchi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5ADBCCF-11FD-7F80-354C-F0AE82F90DE9}"/>
              </a:ext>
            </a:extLst>
          </p:cNvPr>
          <p:cNvSpPr/>
          <p:nvPr/>
        </p:nvSpPr>
        <p:spPr>
          <a:xfrm>
            <a:off x="4516341" y="2969560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F8D8B98-26A3-157E-46D9-08E050FB5561}"/>
              </a:ext>
            </a:extLst>
          </p:cNvPr>
          <p:cNvSpPr/>
          <p:nvPr/>
        </p:nvSpPr>
        <p:spPr>
          <a:xfrm>
            <a:off x="7337983" y="2984314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5959A9A-EC88-7B4E-6706-34199E6389AD}"/>
              </a:ext>
            </a:extLst>
          </p:cNvPr>
          <p:cNvSpPr/>
          <p:nvPr/>
        </p:nvSpPr>
        <p:spPr>
          <a:xfrm>
            <a:off x="10159626" y="2993185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4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4FB727B-9BC0-99C1-E6C1-DA50BB6F615D}"/>
              </a:ext>
            </a:extLst>
          </p:cNvPr>
          <p:cNvSpPr/>
          <p:nvPr/>
        </p:nvSpPr>
        <p:spPr>
          <a:xfrm>
            <a:off x="1694697" y="2940518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6C558C4-D9DE-EC7C-B778-0D5B61544E16}"/>
              </a:ext>
            </a:extLst>
          </p:cNvPr>
          <p:cNvSpPr/>
          <p:nvPr/>
        </p:nvSpPr>
        <p:spPr>
          <a:xfrm>
            <a:off x="2508246" y="5541286"/>
            <a:ext cx="2008095" cy="646331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</a:t>
            </a:r>
            <a:r>
              <a:rPr lang="en-IT" dirty="0"/>
              <a:t>edia, mediana e moda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6A2C6DE-5457-AAE7-11D7-3609C69C7F8F}"/>
              </a:ext>
            </a:extLst>
          </p:cNvPr>
          <p:cNvSpPr/>
          <p:nvPr/>
        </p:nvSpPr>
        <p:spPr>
          <a:xfrm>
            <a:off x="4896594" y="5541286"/>
            <a:ext cx="2008093" cy="646332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 err="1"/>
              <a:t>Knn</a:t>
            </a:r>
            <a:r>
              <a:rPr lang="it-IT" dirty="0"/>
              <a:t> e iterativo</a:t>
            </a:r>
            <a:endParaRPr lang="en-IT" dirty="0"/>
          </a:p>
        </p:txBody>
      </p: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2C7F0DDA-58E4-8E6E-3112-D5084D56BF5F}"/>
              </a:ext>
            </a:extLst>
          </p:cNvPr>
          <p:cNvCxnSpPr>
            <a:stCxn id="9" idx="2"/>
            <a:endCxn id="18" idx="0"/>
          </p:cNvCxnSpPr>
          <p:nvPr/>
        </p:nvCxnSpPr>
        <p:spPr>
          <a:xfrm rot="5400000">
            <a:off x="3657094" y="4491911"/>
            <a:ext cx="904575" cy="1194174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E332A4A0-19EB-A347-7519-D36AB060082C}"/>
              </a:ext>
            </a:extLst>
          </p:cNvPr>
          <p:cNvCxnSpPr>
            <a:stCxn id="9" idx="2"/>
            <a:endCxn id="19" idx="0"/>
          </p:cNvCxnSpPr>
          <p:nvPr/>
        </p:nvCxnSpPr>
        <p:spPr>
          <a:xfrm rot="16200000" flipH="1">
            <a:off x="4851267" y="4491911"/>
            <a:ext cx="904575" cy="1194173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01906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87B38-FDE8-FADA-E660-E3B178E32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2608" y="202764"/>
            <a:ext cx="10515600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Distribuzione dataset sporcato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819A49-72AD-3312-FD07-53D62618B0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710" y="1358994"/>
            <a:ext cx="10299698" cy="17072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83CD8AB-6C7D-53F4-C71F-BC2F1514D4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510" y="3066269"/>
            <a:ext cx="10299697" cy="17065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615CA0-5A40-2254-A9EB-66B2779CA5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510" y="4772829"/>
            <a:ext cx="10299696" cy="1707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217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64C6D-982A-1991-4989-D7605B365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Risultati valori nulli – andamento metriche dt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DE7282-87FB-5654-19B4-4C63804CE4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255" y="1884603"/>
            <a:ext cx="10257490" cy="3821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58413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BC546-2487-2706-AD62-0E62B74D2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59A3D-7B2F-F42E-FA45-6A395853E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0" y="365125"/>
            <a:ext cx="10744200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Risultati valori nulli – andamento metriche svm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CBBD08-6AFD-EF66-AB74-6B4493CBC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505" y="1896485"/>
            <a:ext cx="10362989" cy="3860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229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F605A-1818-8318-2FE6-DCF8288AE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B022D-4DD9-60C3-CF58-5B1415428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0" y="365125"/>
            <a:ext cx="10744200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Risultati valori nulli – andamento metriche nn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18193F2-1DA7-4BB7-D3FF-8330C17C3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329" y="1947285"/>
            <a:ext cx="10499342" cy="3911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9764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6F05C50-BCC0-3D13-50C2-870C552A0A75}"/>
              </a:ext>
            </a:extLst>
          </p:cNvPr>
          <p:cNvSpPr/>
          <p:nvPr/>
        </p:nvSpPr>
        <p:spPr>
          <a:xfrm>
            <a:off x="0" y="-8794"/>
            <a:ext cx="5727700" cy="6884382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3A5D05-541C-893F-E2C6-D155FEB960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125" y="2469450"/>
            <a:ext cx="5251450" cy="1936688"/>
          </a:xfrm>
        </p:spPr>
        <p:txBody>
          <a:bodyPr>
            <a:normAutofit/>
          </a:bodyPr>
          <a:lstStyle/>
          <a:p>
            <a:pPr algn="ctr"/>
            <a:r>
              <a:rPr lang="en-IT" dirty="0">
                <a:solidFill>
                  <a:schemeClr val="bg1"/>
                </a:solidFill>
              </a:rPr>
              <a:t>Risultati valori nulli  andamento matrici di confusione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BFAB67-36E8-2FC7-57F2-D85992C12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7700" y="-8794"/>
            <a:ext cx="63991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7135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5A6DC-3329-B577-BA79-8532B27E7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Risultati valori nulli – mutua informazione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A23FEF8-FBEA-F042-E0B7-C9D1D19E18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82557" y="1444627"/>
            <a:ext cx="4092742" cy="24415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7BA770-2A2A-B57D-E6B7-6B5ECED4F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700" y="1444627"/>
            <a:ext cx="4092743" cy="24415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D4A1242-219A-A8A1-2CBB-12C7AFD672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9628" y="4051300"/>
            <a:ext cx="4092743" cy="244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5674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8E423-8DFC-5E8A-6BF2-77C89DA7D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Risultati valori nulli – mutua informazione</a:t>
            </a:r>
            <a:endParaRPr lang="en-IT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88884E2-69EE-6CDD-F4EB-AC6515A8D2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096000" y="1891001"/>
            <a:ext cx="6106589" cy="36429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80566DB-5B85-AA97-899B-2DBF976D7D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891001"/>
            <a:ext cx="6106589" cy="3642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9859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4FC42-D776-F06A-F6FC-0A673E0E0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Risultati valori nulli – importanza feature dt</a:t>
            </a:r>
            <a:endParaRPr lang="en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B4E734-539D-40A1-E001-067BB90BA3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00" y="2098124"/>
            <a:ext cx="3835047" cy="26617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873A58-CB2D-CB26-E269-3E56693726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2853" y="2098123"/>
            <a:ext cx="3835047" cy="266175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1145F5F-29A4-CCCD-35F1-6585AA1ADB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8476" y="2098122"/>
            <a:ext cx="3835047" cy="2661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8338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55E5D-88AA-9A30-CDD9-90A862D79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878AB-4B59-4829-F8F7-1846FA97D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Risultati valori nulli – importanza feature dt</a:t>
            </a:r>
            <a:endParaRPr lang="en-IT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F6C512-F2AA-33D7-10A2-2EED988106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912" y="1731831"/>
            <a:ext cx="5655366" cy="39604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DA2DEE4-BAD0-94FC-2441-C2CA07D49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4722" y="1731830"/>
            <a:ext cx="5655366" cy="3960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3481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0E02C-0470-A8B0-955F-9DDE5F532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9AD2B-1873-AC7E-079D-25E131051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Valori duplicati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071FB13-0BBB-1779-80AE-A35520563165}"/>
              </a:ext>
            </a:extLst>
          </p:cNvPr>
          <p:cNvSpPr/>
          <p:nvPr/>
        </p:nvSpPr>
        <p:spPr>
          <a:xfrm>
            <a:off x="838200" y="2181362"/>
            <a:ext cx="10515600" cy="119683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itchFamily="2" charset="2"/>
              <a:buChar char="Ø"/>
            </a:pPr>
            <a:r>
              <a:rPr lang="it-IT" noProof="0" dirty="0"/>
              <a:t>I valori duplicati sono una problematica molto diffusa nei dataset e possono avere cause diverse come </a:t>
            </a:r>
            <a:r>
              <a:rPr lang="it-IT" dirty="0"/>
              <a:t>di dati provenienti da fonti diverse che non riconoscono le informazioni già presenti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46B29A9-4C4A-17F5-3C84-52BC77595DD4}"/>
              </a:ext>
            </a:extLst>
          </p:cNvPr>
          <p:cNvSpPr/>
          <p:nvPr/>
        </p:nvSpPr>
        <p:spPr>
          <a:xfrm>
            <a:off x="838200" y="3556001"/>
            <a:ext cx="10515600" cy="1196838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itchFamily="2" charset="2"/>
              <a:buChar char="Ø"/>
            </a:pPr>
            <a:r>
              <a:rPr lang="it-IT" noProof="0" dirty="0"/>
              <a:t>I duplicati sono stati generati senza sovrascrivere i dati già presenti ma creandone di nuovi. In questo modo al termine del processo di degradazione otteniamo un dataset di dimensione doppia rispetto all’originale. </a:t>
            </a:r>
          </a:p>
        </p:txBody>
      </p:sp>
    </p:spTree>
    <p:extLst>
      <p:ext uri="{BB962C8B-B14F-4D97-AF65-F5344CB8AC3E}">
        <p14:creationId xmlns:p14="http://schemas.microsoft.com/office/powerpoint/2010/main" val="6090213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8FE3C-FD6F-2FB2-39FB-C0092BD6E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Valori duplicati – andamento metriche dt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0ADFF9E-52F1-DF42-346B-5D4B102BC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8114" y="1995054"/>
            <a:ext cx="10395771" cy="3879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21389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C4065-2770-60EC-9496-5744CEE59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A6D6E-0890-6F2C-7A47-EB2670384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Valori duplicati – andamento metriche svm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BE61754-3F11-A018-3064-4C15AC97B4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935016"/>
            <a:ext cx="10515600" cy="3927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36409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C73B6-6925-3AAA-6DD3-4A304222B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Valori duplicati – andamento metriche nn</a:t>
            </a:r>
            <a:endParaRPr lang="en-IT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F84C246-F42A-B8F0-F47A-B863A88D4E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984084"/>
            <a:ext cx="10515600" cy="3918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83320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A008D13-DACF-2A97-0D6D-1B79C296CE45}"/>
              </a:ext>
            </a:extLst>
          </p:cNvPr>
          <p:cNvSpPr/>
          <p:nvPr/>
        </p:nvSpPr>
        <p:spPr>
          <a:xfrm>
            <a:off x="-1" y="0"/>
            <a:ext cx="5740039" cy="6884382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AA0E48-5CD3-DD2D-296C-A0EC2945D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550" y="2424509"/>
            <a:ext cx="4546600" cy="2008982"/>
          </a:xfrm>
        </p:spPr>
        <p:txBody>
          <a:bodyPr>
            <a:noAutofit/>
          </a:bodyPr>
          <a:lstStyle/>
          <a:p>
            <a:pPr algn="ctr"/>
            <a:r>
              <a:rPr lang="en-IT" dirty="0">
                <a:solidFill>
                  <a:schemeClr val="bg1"/>
                </a:solidFill>
              </a:rPr>
              <a:t>Valori duplicati andamento matrici di confusione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F01988E-717A-0151-40C5-018E93EB2B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0038" y="0"/>
            <a:ext cx="64579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024924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9CC6F-0B59-0584-677A-B2C39CA08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Risultati valori duplicati – mutua informazione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548C7817-A575-E7FB-2B2B-40389A29F8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841" y="1564072"/>
            <a:ext cx="8272318" cy="4928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8814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B2091-F7B6-C757-3867-AF3EA683B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365125"/>
            <a:ext cx="11677582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Risultati valori duplicati – importanza feature nei dt</a:t>
            </a:r>
            <a:endParaRPr lang="en-IT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CBDB15D-7645-337E-5AA7-5037513DE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783" y="1814945"/>
            <a:ext cx="5766085" cy="3997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AFE7E8BB-4A14-8551-5BEE-6660BC9C2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5992" y="1814945"/>
            <a:ext cx="5732225" cy="3997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6959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D019-86BC-BEF2-1BA1-51CEEBC7C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noProof="0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Outliers</a:t>
            </a:r>
            <a:endParaRPr lang="it-IT" noProof="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1BA7A-2EC9-55BE-DE14-EB64415B3F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666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1800" noProof="0" dirty="0"/>
              <a:t>Gli </a:t>
            </a:r>
            <a:r>
              <a:rPr lang="it-IT" sz="1800" noProof="0" dirty="0" err="1"/>
              <a:t>outlier</a:t>
            </a:r>
            <a:r>
              <a:rPr lang="it-IT" sz="1800" noProof="0" dirty="0"/>
              <a:t> sono valori che si discostano notevolmente dagli altri dati, e la loro presenza può influenzare negativamente l'analisi e la modellazione. Le ragioni della loro comparsa possono essere errori di misurazione, ma anche variazione naturali ma rare.</a:t>
            </a:r>
            <a:br>
              <a:rPr lang="it-IT" sz="1800" noProof="0" dirty="0"/>
            </a:br>
            <a:r>
              <a:rPr lang="it-IT" sz="1800" noProof="0" dirty="0"/>
              <a:t>Ho creato progressivamente 3 diversi tipi di </a:t>
            </a:r>
            <a:r>
              <a:rPr lang="it-IT" sz="1800" noProof="0" dirty="0" err="1"/>
              <a:t>outliers</a:t>
            </a:r>
            <a:r>
              <a:rPr lang="it-IT" sz="1800" dirty="0"/>
              <a:t> sulle feature continue</a:t>
            </a:r>
            <a:r>
              <a:rPr lang="it-IT" sz="1800" noProof="0" dirty="0"/>
              <a:t>:</a:t>
            </a:r>
          </a:p>
          <a:p>
            <a:pPr marL="0" indent="0">
              <a:buNone/>
            </a:pPr>
            <a:endParaRPr lang="it-IT" sz="1800" noProof="0" dirty="0"/>
          </a:p>
          <a:p>
            <a:pPr marL="0" indent="0">
              <a:buNone/>
            </a:pPr>
            <a:endParaRPr lang="it-IT" sz="1800" noProof="0" dirty="0"/>
          </a:p>
          <a:p>
            <a:pPr marL="0" indent="0">
              <a:buNone/>
            </a:pPr>
            <a:endParaRPr lang="it-IT" sz="1800" noProof="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5C2929F-2D62-C8B9-ECB5-D975613F3594}"/>
              </a:ext>
            </a:extLst>
          </p:cNvPr>
          <p:cNvSpPr/>
          <p:nvPr/>
        </p:nvSpPr>
        <p:spPr>
          <a:xfrm>
            <a:off x="838200" y="3056006"/>
            <a:ext cx="10515598" cy="8397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itchFamily="2" charset="2"/>
              <a:buChar char="Ø"/>
            </a:pPr>
            <a:r>
              <a:rPr lang="it-IT" noProof="0" dirty="0"/>
              <a:t>Extreme: valori estremi che si discostano di molto dalla distribuzione iniziale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97671A8-0221-D897-3127-5573A779D32A}"/>
              </a:ext>
            </a:extLst>
          </p:cNvPr>
          <p:cNvSpPr/>
          <p:nvPr/>
        </p:nvSpPr>
        <p:spPr>
          <a:xfrm>
            <a:off x="838200" y="4030729"/>
            <a:ext cx="10515599" cy="839786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itchFamily="2" charset="2"/>
              <a:buChar char="Ø"/>
            </a:pPr>
            <a:r>
              <a:rPr lang="it-IT" noProof="0" dirty="0"/>
              <a:t>Shift: </a:t>
            </a:r>
            <a:r>
              <a:rPr lang="en-GB" noProof="0" dirty="0"/>
              <a:t>v</a:t>
            </a:r>
            <a:r>
              <a:rPr lang="en-GB" dirty="0" err="1"/>
              <a:t>alori</a:t>
            </a:r>
            <a:r>
              <a:rPr lang="en-GB" dirty="0"/>
              <a:t> </a:t>
            </a:r>
            <a:r>
              <a:rPr lang="en-GB" dirty="0" err="1"/>
              <a:t>ottenuti</a:t>
            </a:r>
            <a:r>
              <a:rPr lang="en-GB" dirty="0"/>
              <a:t> </a:t>
            </a:r>
            <a:r>
              <a:rPr lang="en-GB" dirty="0" err="1"/>
              <a:t>spostando</a:t>
            </a:r>
            <a:r>
              <a:rPr lang="en-GB" dirty="0"/>
              <a:t> </a:t>
            </a:r>
            <a:r>
              <a:rPr lang="en-GB" dirty="0" err="1"/>
              <a:t>sistematicamente</a:t>
            </a:r>
            <a:r>
              <a:rPr lang="en-GB" dirty="0"/>
              <a:t> il </a:t>
            </a:r>
            <a:r>
              <a:rPr lang="en-GB" dirty="0" err="1"/>
              <a:t>valore</a:t>
            </a:r>
            <a:r>
              <a:rPr lang="en-GB" dirty="0"/>
              <a:t> </a:t>
            </a:r>
            <a:r>
              <a:rPr lang="en-GB" dirty="0" err="1"/>
              <a:t>originale</a:t>
            </a:r>
            <a:r>
              <a:rPr lang="en-GB" dirty="0"/>
              <a:t> di un </a:t>
            </a:r>
            <a:r>
              <a:rPr lang="en-GB" dirty="0" err="1"/>
              <a:t>multiplo</a:t>
            </a:r>
            <a:r>
              <a:rPr lang="en-GB" dirty="0"/>
              <a:t> </a:t>
            </a:r>
            <a:r>
              <a:rPr lang="en-GB" dirty="0" err="1"/>
              <a:t>della</a:t>
            </a:r>
            <a:r>
              <a:rPr lang="en-GB" dirty="0"/>
              <a:t> </a:t>
            </a:r>
            <a:r>
              <a:rPr lang="en-GB" dirty="0" err="1"/>
              <a:t>deviazione</a:t>
            </a:r>
            <a:r>
              <a:rPr lang="en-GB" dirty="0"/>
              <a:t>      standard</a:t>
            </a:r>
            <a:endParaRPr lang="it-IT" noProof="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09C554-A68D-2DAB-9D7C-8FAB57C476B5}"/>
              </a:ext>
            </a:extLst>
          </p:cNvPr>
          <p:cNvSpPr/>
          <p:nvPr/>
        </p:nvSpPr>
        <p:spPr>
          <a:xfrm>
            <a:off x="838200" y="5005452"/>
            <a:ext cx="10515598" cy="839786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itchFamily="2" charset="2"/>
              <a:buChar char="Ø"/>
            </a:pPr>
            <a:r>
              <a:rPr lang="it-IT" noProof="0" dirty="0" err="1"/>
              <a:t>Noise</a:t>
            </a:r>
            <a:r>
              <a:rPr lang="it-IT" noProof="0" dirty="0"/>
              <a:t>: valori sporcati aggiungendo rumore casuale di ampiezza significativa al valore originale. </a:t>
            </a:r>
          </a:p>
        </p:txBody>
      </p:sp>
    </p:spTree>
    <p:extLst>
      <p:ext uri="{BB962C8B-B14F-4D97-AF65-F5344CB8AC3E}">
        <p14:creationId xmlns:p14="http://schemas.microsoft.com/office/powerpoint/2010/main" val="41681983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F09ED-F625-8F19-7B95-BA5DE85C4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178214"/>
            <a:ext cx="10515600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Distribuzione dataset sporcato</a:t>
            </a:r>
            <a:endParaRPr lang="en-IT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F987F7-6ECD-3EB6-D648-FB4B5B91C1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6743" y="1147349"/>
            <a:ext cx="8978513" cy="5329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2973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4D731-1B23-BD1B-34D6-CAACBEE71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Risultati outliers – andamento metriche dt </a:t>
            </a:r>
            <a:endParaRPr lang="en-IT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1D424C-A915-9DEF-7182-AB0BEA8E8C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" y="2082752"/>
            <a:ext cx="10236200" cy="3813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06567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80EEF-5697-6DD4-38F8-0B3729797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65CA9-29DD-7F54-24E9-41936813C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Risultati outliers – andamento metriche svm </a:t>
            </a:r>
            <a:endParaRPr lang="en-IT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7A7263-DA63-1E75-B484-6CE536AB8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30" y="2015018"/>
            <a:ext cx="10317539" cy="3843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7481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8B690-97EB-7A77-F41F-A6DC0A5E9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D2FBE-944F-7947-81FE-E99E0652E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Risultati outliers – andamento metriche nn </a:t>
            </a:r>
            <a:endParaRPr lang="en-IT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3D3860-1586-0C4D-A3F0-E6AF53B51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43" y="1947285"/>
            <a:ext cx="10189313" cy="3796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6690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BA2216-D4C1-93C0-F95D-5B38CF9C2B1A}"/>
              </a:ext>
            </a:extLst>
          </p:cNvPr>
          <p:cNvSpPr/>
          <p:nvPr/>
        </p:nvSpPr>
        <p:spPr>
          <a:xfrm>
            <a:off x="0" y="0"/>
            <a:ext cx="5727700" cy="6884382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96DC59-0D06-5132-D052-FB030B4E2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889" y="2909543"/>
            <a:ext cx="4475922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it-IT" noProof="0" dirty="0" err="1">
                <a:solidFill>
                  <a:schemeClr val="bg1"/>
                </a:solidFill>
              </a:rPr>
              <a:t>Outliers</a:t>
            </a:r>
            <a:r>
              <a:rPr lang="it-IT" noProof="0" dirty="0">
                <a:solidFill>
                  <a:schemeClr val="bg1"/>
                </a:solidFill>
              </a:rPr>
              <a:t>  -andamento matrici di confusione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1692DB-04E8-BD57-8D8E-90C0305B8C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7700" y="0"/>
            <a:ext cx="64519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571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D8E81-C6C6-3AD5-B3B9-EA958FA56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Outliers – importanza feature dt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5C2A601-01D4-3C54-094B-E5C98B5F58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16437" y="2038098"/>
            <a:ext cx="5606732" cy="392639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E0372B0-C5D6-81D0-4C8E-BE6897EF8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831" y="2038099"/>
            <a:ext cx="5657141" cy="3926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7032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7F6C2-1C06-FC74-53C4-AD07FA572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Outliers – andamento mutua informazione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E56EE11-86C1-7ECE-2001-01D4F2D19B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46129" y="1690688"/>
            <a:ext cx="8099741" cy="4831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5406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63507-A31D-271F-9E99-B07A0767B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/>
                </a:solidFill>
              </a:rPr>
              <a:t>Rumore su feature binarie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56768F3-698A-7556-3607-1E6D43178A08}"/>
              </a:ext>
            </a:extLst>
          </p:cNvPr>
          <p:cNvSpPr/>
          <p:nvPr/>
        </p:nvSpPr>
        <p:spPr>
          <a:xfrm>
            <a:off x="838200" y="1834997"/>
            <a:ext cx="10515600" cy="119683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itchFamily="2" charset="2"/>
              <a:buChar char="Ø"/>
            </a:pPr>
            <a:r>
              <a:rPr lang="en-GB" dirty="0"/>
              <a:t>Il </a:t>
            </a:r>
            <a:r>
              <a:rPr lang="en-GB" dirty="0" err="1"/>
              <a:t>rumore</a:t>
            </a:r>
            <a:r>
              <a:rPr lang="en-GB" dirty="0"/>
              <a:t> </a:t>
            </a:r>
            <a:r>
              <a:rPr lang="en-GB" dirty="0" err="1"/>
              <a:t>sulle</a:t>
            </a:r>
            <a:r>
              <a:rPr lang="en-GB" dirty="0"/>
              <a:t> feature </a:t>
            </a:r>
            <a:r>
              <a:rPr lang="en-GB" dirty="0" err="1"/>
              <a:t>binarie</a:t>
            </a:r>
            <a:r>
              <a:rPr lang="en-GB" dirty="0"/>
              <a:t>, </a:t>
            </a:r>
            <a:r>
              <a:rPr lang="en-GB" dirty="0" err="1"/>
              <a:t>anche</a:t>
            </a:r>
            <a:r>
              <a:rPr lang="en-GB" dirty="0"/>
              <a:t> </a:t>
            </a:r>
            <a:r>
              <a:rPr lang="en-GB" dirty="0" err="1"/>
              <a:t>detto</a:t>
            </a:r>
            <a:r>
              <a:rPr lang="en-GB" dirty="0"/>
              <a:t> flip noisy, </a:t>
            </a:r>
            <a:r>
              <a:rPr lang="en-GB" dirty="0" err="1"/>
              <a:t>è</a:t>
            </a:r>
            <a:r>
              <a:rPr lang="en-GB" dirty="0"/>
              <a:t> un </a:t>
            </a:r>
            <a:r>
              <a:rPr lang="en-GB" dirty="0" err="1"/>
              <a:t>problema</a:t>
            </a:r>
            <a:r>
              <a:rPr lang="en-GB" dirty="0"/>
              <a:t> </a:t>
            </a:r>
            <a:r>
              <a:rPr lang="en-GB" dirty="0" err="1"/>
              <a:t>comune</a:t>
            </a:r>
            <a:r>
              <a:rPr lang="en-GB" dirty="0"/>
              <a:t> </a:t>
            </a:r>
            <a:r>
              <a:rPr lang="en-GB" dirty="0" err="1"/>
              <a:t>all’interno</a:t>
            </a:r>
            <a:r>
              <a:rPr lang="en-GB" dirty="0"/>
              <a:t> </a:t>
            </a:r>
            <a:r>
              <a:rPr lang="en-GB" dirty="0" err="1"/>
              <a:t>dei</a:t>
            </a:r>
            <a:r>
              <a:rPr lang="en-GB" dirty="0"/>
              <a:t> dataset. </a:t>
            </a:r>
            <a:r>
              <a:rPr lang="en-GB" dirty="0" err="1"/>
              <a:t>Può</a:t>
            </a:r>
            <a:r>
              <a:rPr lang="en-GB" dirty="0"/>
              <a:t> </a:t>
            </a:r>
            <a:r>
              <a:rPr lang="en-GB" dirty="0" err="1"/>
              <a:t>essere</a:t>
            </a:r>
            <a:r>
              <a:rPr lang="en-GB" dirty="0"/>
              <a:t> </a:t>
            </a:r>
            <a:r>
              <a:rPr lang="en-GB" dirty="0" err="1"/>
              <a:t>causato</a:t>
            </a:r>
            <a:r>
              <a:rPr lang="en-GB" dirty="0"/>
              <a:t> da </a:t>
            </a:r>
            <a:r>
              <a:rPr lang="en-GB" dirty="0" err="1"/>
              <a:t>errori</a:t>
            </a:r>
            <a:r>
              <a:rPr lang="en-GB" dirty="0"/>
              <a:t> </a:t>
            </a:r>
            <a:r>
              <a:rPr lang="en-GB" dirty="0" err="1"/>
              <a:t>umani</a:t>
            </a:r>
            <a:r>
              <a:rPr lang="en-GB" dirty="0"/>
              <a:t> </a:t>
            </a:r>
            <a:r>
              <a:rPr lang="en-GB" dirty="0" err="1"/>
              <a:t>nel</a:t>
            </a:r>
            <a:r>
              <a:rPr lang="en-GB" dirty="0"/>
              <a:t> data entry, </a:t>
            </a:r>
            <a:r>
              <a:rPr lang="en-GB" dirty="0" err="1"/>
              <a:t>etichettature</a:t>
            </a:r>
            <a:r>
              <a:rPr lang="en-GB" dirty="0"/>
              <a:t> imprecise da </a:t>
            </a:r>
            <a:r>
              <a:rPr lang="en-GB" dirty="0" err="1"/>
              <a:t>parte</a:t>
            </a:r>
            <a:r>
              <a:rPr lang="en-GB" dirty="0"/>
              <a:t> di </a:t>
            </a:r>
            <a:r>
              <a:rPr lang="en-GB" dirty="0" err="1"/>
              <a:t>sistemi</a:t>
            </a:r>
            <a:r>
              <a:rPr lang="en-GB" dirty="0"/>
              <a:t> </a:t>
            </a:r>
            <a:r>
              <a:rPr lang="en-GB" dirty="0" err="1"/>
              <a:t>automatici</a:t>
            </a:r>
            <a:r>
              <a:rPr lang="en-GB" dirty="0"/>
              <a:t> o </a:t>
            </a:r>
            <a:r>
              <a:rPr lang="en-GB" dirty="0" err="1"/>
              <a:t>annotazioni</a:t>
            </a:r>
            <a:r>
              <a:rPr lang="en-GB" dirty="0"/>
              <a:t> </a:t>
            </a:r>
            <a:r>
              <a:rPr lang="en-GB" dirty="0" err="1"/>
              <a:t>scorrette</a:t>
            </a:r>
            <a:r>
              <a:rPr lang="en-GB" dirty="0"/>
              <a:t> in </a:t>
            </a:r>
            <a:r>
              <a:rPr lang="en-GB" dirty="0" err="1"/>
              <a:t>grandi</a:t>
            </a:r>
            <a:r>
              <a:rPr lang="en-GB" dirty="0"/>
              <a:t> dataset.</a:t>
            </a:r>
            <a:endParaRPr lang="en-IT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AFB46EE-81EA-A464-CB4B-5B62ADD99161}"/>
              </a:ext>
            </a:extLst>
          </p:cNvPr>
          <p:cNvSpPr/>
          <p:nvPr/>
        </p:nvSpPr>
        <p:spPr>
          <a:xfrm>
            <a:off x="838201" y="3406273"/>
            <a:ext cx="10515599" cy="1196838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itchFamily="2" charset="2"/>
              <a:buChar char="Ø"/>
            </a:pPr>
            <a:r>
              <a:rPr lang="it-IT" noProof="0" dirty="0"/>
              <a:t>Essendo il dataset composto in gran parte da feature binarie mi aspetto un peggioramento significativo delle metriche, superiore agli impatti generati dalle diverse tipologie di rumore precedentemente analizzate</a:t>
            </a:r>
          </a:p>
        </p:txBody>
      </p:sp>
    </p:spTree>
    <p:extLst>
      <p:ext uri="{BB962C8B-B14F-4D97-AF65-F5344CB8AC3E}">
        <p14:creationId xmlns:p14="http://schemas.microsoft.com/office/powerpoint/2010/main" val="1881867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FB4D4-A9D0-BAAC-C456-E52844047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Risultati flip noisy – andamento metriche dt </a:t>
            </a:r>
            <a:endParaRPr lang="en-IT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3EA25A6C-7E8A-925F-A688-8EBC8BD67B1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100" y="2121694"/>
            <a:ext cx="10083800" cy="375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61569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49B38-CB86-9F58-18F4-3032933F8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Risultati flip noisy – andamento metriche svm</a:t>
            </a:r>
            <a:endParaRPr lang="en-IT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0A79FB84-4CD8-D1D9-A11B-CDF0886F0EB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100" y="2121694"/>
            <a:ext cx="10083800" cy="375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39853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6FDEC-C48A-93EC-14B2-71CF49C14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Risultati flip noisy – andamento metriche nn</a:t>
            </a:r>
            <a:endParaRPr lang="en-IT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A3E9F079-6AC6-2F02-9DA3-329CB384B68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100" y="2121694"/>
            <a:ext cx="10083800" cy="375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19348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C06E2-7F18-D3D8-6325-73232AA3A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918D02D-0386-50FA-2DB2-9D9037E1B53C}"/>
              </a:ext>
            </a:extLst>
          </p:cNvPr>
          <p:cNvSpPr/>
          <p:nvPr/>
        </p:nvSpPr>
        <p:spPr>
          <a:xfrm>
            <a:off x="0" y="0"/>
            <a:ext cx="5727700" cy="6884382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A87FAC-1267-FEBD-55FB-444E927A8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602" y="1910253"/>
            <a:ext cx="4926496" cy="3063875"/>
          </a:xfrm>
        </p:spPr>
        <p:txBody>
          <a:bodyPr>
            <a:normAutofit/>
          </a:bodyPr>
          <a:lstStyle/>
          <a:p>
            <a:pPr algn="ctr"/>
            <a:r>
              <a:rPr lang="en-IT" dirty="0">
                <a:solidFill>
                  <a:schemeClr val="bg1"/>
                </a:solidFill>
              </a:rPr>
              <a:t>Risultati flip noisy – andamento matrici di confusione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557E539C-9DE3-ACBA-3368-3AE10B0B6A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5637" y="0"/>
            <a:ext cx="64563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86789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9CD70-CA13-0D57-9AB3-0AE77B021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FLip noisy – importanza feature dt</a:t>
            </a:r>
            <a:endParaRPr lang="en-IT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BA77C890-FF56-D523-4273-3EA93A24550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318" y="1714483"/>
            <a:ext cx="5745486" cy="4021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856DDDDB-56E9-1A29-4DE3-A651B1F13D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714483"/>
            <a:ext cx="5777076" cy="4021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87956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39196-CDC1-AECC-3187-427B31C53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Flip noisy – andamento mutua informazione</a:t>
            </a:r>
            <a:endParaRPr lang="en-IT" dirty="0"/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866DED52-A482-B792-ADF4-F29109AF925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7737" y="1690688"/>
            <a:ext cx="7656526" cy="45722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04268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2FB895B-679E-60B8-1690-A1008216E8B2}"/>
              </a:ext>
            </a:extLst>
          </p:cNvPr>
          <p:cNvSpPr/>
          <p:nvPr/>
        </p:nvSpPr>
        <p:spPr>
          <a:xfrm>
            <a:off x="0" y="-25713"/>
            <a:ext cx="5150915" cy="6909426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EC3DE1-B6C9-D8CB-F929-EDB03824B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164" y="488575"/>
            <a:ext cx="4422913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bg1"/>
                </a:solidFill>
              </a:rPr>
              <a:t>Rumore sulla feature target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07EB2-0904-9A14-E182-36FF92ACA9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1694" y="2406933"/>
            <a:ext cx="3853070" cy="34902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1800" noProof="0" dirty="0">
                <a:solidFill>
                  <a:schemeClr val="bg1"/>
                </a:solidFill>
              </a:rPr>
              <a:t>Il rumore sulla feature target è un problema comune e può essere causato da  diverse tipologie di errori: </a:t>
            </a:r>
          </a:p>
          <a:p>
            <a:pPr>
              <a:buFont typeface="Wingdings" pitchFamily="2" charset="2"/>
              <a:buChar char="Ø"/>
            </a:pPr>
            <a:r>
              <a:rPr lang="it-IT" sz="1800" noProof="0" dirty="0">
                <a:solidFill>
                  <a:schemeClr val="bg1"/>
                </a:solidFill>
              </a:rPr>
              <a:t>Errori umani nel data entry</a:t>
            </a:r>
          </a:p>
          <a:p>
            <a:pPr>
              <a:buFont typeface="Wingdings" pitchFamily="2" charset="2"/>
              <a:buChar char="Ø"/>
            </a:pPr>
            <a:r>
              <a:rPr lang="it-IT" sz="1800" dirty="0">
                <a:solidFill>
                  <a:schemeClr val="bg1"/>
                </a:solidFill>
              </a:rPr>
              <a:t>D</a:t>
            </a:r>
            <a:r>
              <a:rPr lang="it-IT" sz="1800" noProof="0" dirty="0" err="1">
                <a:solidFill>
                  <a:schemeClr val="bg1"/>
                </a:solidFill>
              </a:rPr>
              <a:t>iagnosi</a:t>
            </a:r>
            <a:r>
              <a:rPr lang="it-IT" sz="1800" noProof="0" dirty="0">
                <a:solidFill>
                  <a:schemeClr val="bg1"/>
                </a:solidFill>
              </a:rPr>
              <a:t> mediche sbagliate</a:t>
            </a:r>
          </a:p>
          <a:p>
            <a:pPr>
              <a:buFont typeface="Wingdings" pitchFamily="2" charset="2"/>
              <a:buChar char="Ø"/>
            </a:pPr>
            <a:r>
              <a:rPr lang="it-IT" sz="1800" dirty="0">
                <a:solidFill>
                  <a:schemeClr val="bg1"/>
                </a:solidFill>
              </a:rPr>
              <a:t>E</a:t>
            </a:r>
            <a:r>
              <a:rPr lang="it-IT" sz="1800" noProof="0" dirty="0" err="1">
                <a:solidFill>
                  <a:schemeClr val="bg1"/>
                </a:solidFill>
              </a:rPr>
              <a:t>tichettature</a:t>
            </a:r>
            <a:r>
              <a:rPr lang="it-IT" sz="1800" noProof="0" dirty="0">
                <a:solidFill>
                  <a:schemeClr val="bg1"/>
                </a:solidFill>
              </a:rPr>
              <a:t> imprecise da parte di sistemi automatici</a:t>
            </a:r>
          </a:p>
          <a:p>
            <a:pPr>
              <a:buFont typeface="Wingdings" pitchFamily="2" charset="2"/>
              <a:buChar char="Ø"/>
            </a:pPr>
            <a:endParaRPr lang="it-IT" sz="1800" dirty="0">
              <a:solidFill>
                <a:schemeClr val="bg1"/>
              </a:solidFill>
            </a:endParaRPr>
          </a:p>
          <a:p>
            <a:pPr>
              <a:buFont typeface="Wingdings" pitchFamily="2" charset="2"/>
              <a:buChar char="Ø"/>
            </a:pPr>
            <a:endParaRPr lang="it-IT" sz="1800" noProof="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26C7BE-5475-7EE2-68BF-9F193020D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008" y="1151357"/>
            <a:ext cx="6925992" cy="4581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3229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34FD0-9B39-D313-8B04-EEEA8A83F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Risultati label noisy – andamento metriche dt </a:t>
            </a:r>
            <a:endParaRPr lang="en-IT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527EA3-C1AF-1A81-0015-2F35CF43E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" y="2015019"/>
            <a:ext cx="9982200" cy="3718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5067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EB2AC-9D7D-3896-2D07-6588EF271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013" y="378377"/>
            <a:ext cx="10889974" cy="1325563"/>
          </a:xfrm>
        </p:spPr>
        <p:txBody>
          <a:bodyPr/>
          <a:lstStyle/>
          <a:p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Risultati label noisy – andamento metriche svm </a:t>
            </a:r>
            <a:endParaRPr lang="en-I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5C0A2F-514A-7377-D7AC-D8C28B14BE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780" y="1930352"/>
            <a:ext cx="10408439" cy="3877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33776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4B4D8-D23B-B106-C03B-C82BDED81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Risultati label noisy – andamento metriche nn </a:t>
            </a:r>
            <a:endParaRPr lang="en-I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CE29BD-CDCF-3D3D-E198-D1DE9ACC8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134" y="1964219"/>
            <a:ext cx="10135732" cy="3776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67504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43B96C1-0020-C60D-A806-C42A482507B9}"/>
              </a:ext>
            </a:extLst>
          </p:cNvPr>
          <p:cNvSpPr/>
          <p:nvPr/>
        </p:nvSpPr>
        <p:spPr>
          <a:xfrm>
            <a:off x="0" y="0"/>
            <a:ext cx="5727700" cy="6884382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F2D834-97C0-833B-C0E1-80429C855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602" y="1910253"/>
            <a:ext cx="4926496" cy="3063875"/>
          </a:xfrm>
        </p:spPr>
        <p:txBody>
          <a:bodyPr>
            <a:normAutofit/>
          </a:bodyPr>
          <a:lstStyle/>
          <a:p>
            <a:pPr algn="ctr"/>
            <a:r>
              <a:rPr lang="en-IT" dirty="0">
                <a:solidFill>
                  <a:schemeClr val="bg1"/>
                </a:solidFill>
              </a:rPr>
              <a:t>Risultati label noisy – andamento matrici di confusione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2BC24D-84CA-FF1C-A904-C6C4431A3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0039" y="0"/>
            <a:ext cx="64519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7222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D181F-7A88-7B08-1C92-A46D73BE1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Label noisy – importanza feature dt</a:t>
            </a:r>
            <a:endParaRPr lang="en-IT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C3B3DB7-BC03-0E3D-EDF4-7DDABAEF51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3032" y="1825623"/>
            <a:ext cx="5643759" cy="39523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C9D32CD-C67D-854C-7D75-C7DD169EFA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209" y="1825624"/>
            <a:ext cx="5643759" cy="3952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5854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EB9AA-3123-12C2-15D1-A1978ADC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Label noisy – andamento mutua informazione</a:t>
            </a:r>
            <a:endParaRPr lang="en-IT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83C463A-23F4-C3D9-4D36-497815D65A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4212" y="1690688"/>
            <a:ext cx="7823576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1465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8FE93-41CA-B857-1D8A-A518FD4D7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Conclusioni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30CB619-7234-7A2C-488E-687AD59E08F5}"/>
              </a:ext>
            </a:extLst>
          </p:cNvPr>
          <p:cNvSpPr/>
          <p:nvPr/>
        </p:nvSpPr>
        <p:spPr>
          <a:xfrm>
            <a:off x="838200" y="1690688"/>
            <a:ext cx="10515600" cy="8397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noProof="0" dirty="0"/>
              <a:t>Tra i tre modelli esaminati SVM si è dimostrato complessivamente il  più solido.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5D22911-940C-842F-DD7A-68032128F48A}"/>
              </a:ext>
            </a:extLst>
          </p:cNvPr>
          <p:cNvSpPr/>
          <p:nvPr/>
        </p:nvSpPr>
        <p:spPr>
          <a:xfrm>
            <a:off x="838200" y="2659860"/>
            <a:ext cx="10515599" cy="839786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Anche le reti neurali hanno mostrato performance ottime, ma pagano gli elevati costi computazionali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0E0CB4C-628B-A3B6-179F-46AA19D11153}"/>
              </a:ext>
            </a:extLst>
          </p:cNvPr>
          <p:cNvSpPr/>
          <p:nvPr/>
        </p:nvSpPr>
        <p:spPr>
          <a:xfrm>
            <a:off x="838200" y="4566515"/>
            <a:ext cx="10515599" cy="839786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La tipologie di rumore più problematice sono state il rumore sulla feature target sulle feature binarie</a:t>
            </a:r>
            <a:r>
              <a:rPr lang="en-IT" b="1" dirty="0"/>
              <a:t>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D79B1BE-B4DA-14A5-96E7-7EC68EB3B901}"/>
              </a:ext>
            </a:extLst>
          </p:cNvPr>
          <p:cNvSpPr/>
          <p:nvPr/>
        </p:nvSpPr>
        <p:spPr>
          <a:xfrm>
            <a:off x="838200" y="5535687"/>
            <a:ext cx="10515599" cy="839786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L’utilizzo di un dataset pulito ha maggiore impatto sulle performance rispetto alla scelta del modello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F8DDB3-C346-5E40-DF44-D8DEEB804064}"/>
              </a:ext>
            </a:extLst>
          </p:cNvPr>
          <p:cNvSpPr/>
          <p:nvPr/>
        </p:nvSpPr>
        <p:spPr>
          <a:xfrm>
            <a:off x="838199" y="3613187"/>
            <a:ext cx="10515599" cy="839786"/>
          </a:xfrm>
          <a:prstGeom prst="roundRect">
            <a:avLst/>
          </a:prstGeom>
          <a:solidFill>
            <a:srgbClr val="36669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Tutti i </a:t>
            </a:r>
            <a:r>
              <a:rPr lang="it-IT" b="1" dirty="0"/>
              <a:t>modelli ottimizzati </a:t>
            </a:r>
            <a:r>
              <a:rPr lang="it-IT" dirty="0"/>
              <a:t>sono risultati più resistenti al rumore rispetto ai corrispettivi </a:t>
            </a:r>
            <a:r>
              <a:rPr lang="it-IT" dirty="0" err="1"/>
              <a:t>naive</a:t>
            </a:r>
            <a:r>
              <a:rPr lang="it-IT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06559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6876</TotalTime>
  <Words>760</Words>
  <Application>Microsoft Macintosh PowerPoint</Application>
  <PresentationFormat>Widescreen</PresentationFormat>
  <Paragraphs>110</Paragraphs>
  <Slides>48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3" baseType="lpstr">
      <vt:lpstr>Aptos</vt:lpstr>
      <vt:lpstr>Aptos Display</vt:lpstr>
      <vt:lpstr>Arial</vt:lpstr>
      <vt:lpstr>Wingdings</vt:lpstr>
      <vt:lpstr>Office Theme</vt:lpstr>
      <vt:lpstr>Analisi delle performance di 3 modelli di machine learning su un dataset progressivamente sporcato</vt:lpstr>
      <vt:lpstr>Processo di degradazione</vt:lpstr>
      <vt:lpstr>Metodologia degradazione dataset</vt:lpstr>
      <vt:lpstr>Metodologia analisi risultati</vt:lpstr>
      <vt:lpstr>Metodologia analisi risultati</vt:lpstr>
      <vt:lpstr>Metodologia analisi risultati</vt:lpstr>
      <vt:lpstr>Metodologia analisi risultati</vt:lpstr>
      <vt:lpstr>Metodologia analisi risultati</vt:lpstr>
      <vt:lpstr>Valori nulli</vt:lpstr>
      <vt:lpstr>Distribuzione dataset sporcato</vt:lpstr>
      <vt:lpstr>Risultati valori nulli – andamento metriche dt </vt:lpstr>
      <vt:lpstr>Risultati valori nulli – andamento metriche svm </vt:lpstr>
      <vt:lpstr>Risultati valori nulli – andamento metriche nn </vt:lpstr>
      <vt:lpstr>Risultati valori nulli  andamento matrici di confusione</vt:lpstr>
      <vt:lpstr>Risultati valori nulli – mutua informazione</vt:lpstr>
      <vt:lpstr>Risultati valori nulli – mutua informazione</vt:lpstr>
      <vt:lpstr>Risultati valori nulli – importanza feature dt</vt:lpstr>
      <vt:lpstr>Risultati valori nulli – importanza feature dt</vt:lpstr>
      <vt:lpstr>Valori duplicati</vt:lpstr>
      <vt:lpstr>Valori duplicati – andamento metriche dt</vt:lpstr>
      <vt:lpstr>Valori duplicati – andamento metriche svm</vt:lpstr>
      <vt:lpstr>Valori duplicati – andamento metriche nn</vt:lpstr>
      <vt:lpstr>Valori duplicati andamento matrici di confusione</vt:lpstr>
      <vt:lpstr>Risultati valori duplicati – mutua informazione</vt:lpstr>
      <vt:lpstr>Risultati valori duplicati – importanza feature nei dt</vt:lpstr>
      <vt:lpstr>Outliers</vt:lpstr>
      <vt:lpstr>Distribuzione dataset sporcato</vt:lpstr>
      <vt:lpstr>Risultati outliers – andamento metriche dt </vt:lpstr>
      <vt:lpstr>Risultati outliers – andamento metriche svm </vt:lpstr>
      <vt:lpstr>Risultati outliers – andamento metriche nn </vt:lpstr>
      <vt:lpstr>Outliers  -andamento matrici di confusione</vt:lpstr>
      <vt:lpstr>Outliers – importanza feature dt</vt:lpstr>
      <vt:lpstr>Outliers – andamento mutua informazione</vt:lpstr>
      <vt:lpstr>Rumore su feature binarie</vt:lpstr>
      <vt:lpstr>Risultati flip noisy – andamento metriche dt </vt:lpstr>
      <vt:lpstr>Risultati flip noisy – andamento metriche svm</vt:lpstr>
      <vt:lpstr>Risultati flip noisy – andamento metriche nn</vt:lpstr>
      <vt:lpstr>Risultati flip noisy – andamento matrici di confusione</vt:lpstr>
      <vt:lpstr>FLip noisy – importanza feature dt</vt:lpstr>
      <vt:lpstr>Flip noisy – andamento mutua informazione</vt:lpstr>
      <vt:lpstr>Rumore sulla feature target</vt:lpstr>
      <vt:lpstr>Risultati label noisy – andamento metriche dt </vt:lpstr>
      <vt:lpstr>Risultati label noisy – andamento metriche svm </vt:lpstr>
      <vt:lpstr>Risultati label noisy – andamento metriche nn </vt:lpstr>
      <vt:lpstr>Risultati label noisy – andamento matrici di confusione</vt:lpstr>
      <vt:lpstr>Label noisy – importanza feature dt</vt:lpstr>
      <vt:lpstr>Label noisy – andamento mutua informazione</vt:lpstr>
      <vt:lpstr>Conclusioni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andrea spagnolo</dc:creator>
  <cp:lastModifiedBy>andrea spagnolo</cp:lastModifiedBy>
  <cp:revision>7</cp:revision>
  <dcterms:created xsi:type="dcterms:W3CDTF">2025-09-10T12:48:09Z</dcterms:created>
  <dcterms:modified xsi:type="dcterms:W3CDTF">2026-01-11T16:22:32Z</dcterms:modified>
</cp:coreProperties>
</file>